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12.svg" ContentType="image/svg+xml"/>
  <Override PartName="/ppt/media/image2.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8288000" cy="10287000"/>
  <p:notesSz cx="6858000" cy="9144000"/>
  <p:embeddedFontLst>
    <p:embeddedFont>
      <p:font typeface="Calibri" panose="020F050202020403020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svg"/><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jpeg"/><Relationship Id="rId2" Type="http://schemas.openxmlformats.org/officeDocument/2006/relationships/image" Target="../media/image12.svg"/><Relationship Id="rId1" Type="http://schemas.openxmlformats.org/officeDocument/2006/relationships/image" Target="../media/image11.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2.sv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2.sv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2.sv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2.svg"/><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2.sv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9.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https://ijettjournal.org" TargetMode="External"/><Relationship Id="rId6" Type="http://schemas.openxmlformats.org/officeDocument/2006/relationships/hyperlink" Target="https://doi.org/10.17148/IJARCCE.2025.141063" TargetMode="External"/><Relationship Id="rId5" Type="http://schemas.openxmlformats.org/officeDocument/2006/relationships/hyperlink" Target="https://doi.org/10.47392/IRJAEM.2024.0361" TargetMode="External"/><Relationship Id="rId4" Type="http://schemas.openxmlformats.org/officeDocument/2006/relationships/hyperlink" Target="https://doi.org/10.22214/ijraset.2022.41641" TargetMode="External"/><Relationship Id="rId3" Type="http://schemas.openxmlformats.org/officeDocument/2006/relationships/hyperlink" Target="https://www.kaggle.com/shivamb/real-or-fake-fake-jobposting-prediction" TargetMode="External"/><Relationship Id="rId2" Type="http://schemas.openxmlformats.org/officeDocument/2006/relationships/hyperlink" Target="https://doi.org/10.22214/ijraset.2025.74635" TargetMode="External"/><Relationship Id="rId1" Type="http://schemas.openxmlformats.org/officeDocument/2006/relationships/hyperlink" Target="https://ieeexplore.ieee.org" TargetMode="Externa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svg"/><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8.svg"/><Relationship Id="rId3" Type="http://schemas.openxmlformats.org/officeDocument/2006/relationships/image" Target="../media/image10.png"/><Relationship Id="rId2" Type="http://schemas.openxmlformats.org/officeDocument/2006/relationships/image" Target="../media/image2.sv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659535"/>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flipH="1" flipV="1">
            <a:off x="13890343" y="5516388"/>
            <a:ext cx="4840370" cy="6758253"/>
          </a:xfrm>
          <a:custGeom>
            <a:avLst/>
            <a:gdLst/>
            <a:ahLst/>
            <a:cxnLst/>
            <a:rect l="l" t="t" r="r" b="b"/>
            <a:pathLst>
              <a:path w="4840370" h="6758253">
                <a:moveTo>
                  <a:pt x="4840371" y="6758253"/>
                </a:moveTo>
                <a:lnTo>
                  <a:pt x="0" y="6758253"/>
                </a:lnTo>
                <a:lnTo>
                  <a:pt x="0" y="0"/>
                </a:lnTo>
                <a:lnTo>
                  <a:pt x="4840371" y="0"/>
                </a:lnTo>
                <a:lnTo>
                  <a:pt x="4840371" y="6758253"/>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212327" flipH="1">
            <a:off x="-1633813"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2020970"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176744" flipV="1">
            <a:off x="12281842" y="-3234705"/>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flipV="1">
            <a:off x="12348517" y="-3496396"/>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486770" y="251823"/>
            <a:ext cx="17314460" cy="3699757"/>
          </a:xfrm>
          <a:prstGeom prst="rect">
            <a:avLst/>
          </a:prstGeom>
        </p:spPr>
        <p:txBody>
          <a:bodyPr lIns="0" tIns="0" rIns="0" bIns="0" rtlCol="0" anchor="t">
            <a:spAutoFit/>
          </a:bodyPr>
          <a:lstStyle/>
          <a:p>
            <a:pPr algn="ctr">
              <a:lnSpc>
                <a:spcPts val="9750"/>
              </a:lnSpc>
            </a:pPr>
            <a:r>
              <a:rPr lang="en-US" sz="6965">
                <a:solidFill>
                  <a:srgbClr val="3F3D3E"/>
                </a:solidFill>
                <a:latin typeface="Times New Roman" panose="02020603050405020304"/>
                <a:ea typeface="Times New Roman" panose="02020603050405020304"/>
                <a:cs typeface="Times New Roman" panose="02020603050405020304"/>
                <a:sym typeface="Times New Roman" panose="02020603050405020304"/>
              </a:rPr>
              <a:t>SUPERVISED ML APPROACH TO FAKE JOB POST DETECTION </a:t>
            </a:r>
            <a:endParaRPr lang="en-US" sz="6965">
              <a:solidFill>
                <a:srgbClr val="3F3D3E"/>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9750"/>
              </a:lnSpc>
            </a:pPr>
          </a:p>
        </p:txBody>
      </p:sp>
      <p:sp>
        <p:nvSpPr>
          <p:cNvPr id="9" name="TextBox 9"/>
          <p:cNvSpPr txBox="1"/>
          <p:nvPr/>
        </p:nvSpPr>
        <p:spPr>
          <a:xfrm>
            <a:off x="3617755" y="3086708"/>
            <a:ext cx="10556087" cy="3271789"/>
          </a:xfrm>
          <a:prstGeom prst="rect">
            <a:avLst/>
          </a:prstGeom>
        </p:spPr>
        <p:txBody>
          <a:bodyPr lIns="0" tIns="0" rIns="0" bIns="0" rtlCol="0" anchor="t">
            <a:spAutoFit/>
          </a:bodyPr>
          <a:lstStyle/>
          <a:p>
            <a:pPr algn="ctr">
              <a:lnSpc>
                <a:spcPts val="6500"/>
              </a:lnSpc>
            </a:pPr>
            <a:r>
              <a:rPr lang="en-US" sz="4640">
                <a:solidFill>
                  <a:srgbClr val="545454"/>
                </a:solidFill>
                <a:latin typeface="Times New Roman" panose="02020603050405020304"/>
                <a:ea typeface="Times New Roman" panose="02020603050405020304"/>
                <a:cs typeface="Times New Roman" panose="02020603050405020304"/>
                <a:sym typeface="Times New Roman" panose="02020603050405020304"/>
              </a:rPr>
              <a:t>  Under the guidance of</a:t>
            </a:r>
            <a:endParaRPr lang="en-US" sz="464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6500"/>
              </a:lnSpc>
            </a:pPr>
            <a:r>
              <a:rPr lang="en-US" sz="4640">
                <a:solidFill>
                  <a:srgbClr val="545454"/>
                </a:solidFill>
                <a:latin typeface="Times New Roman" panose="02020603050405020304"/>
                <a:ea typeface="Times New Roman" panose="02020603050405020304"/>
                <a:cs typeface="Times New Roman" panose="02020603050405020304"/>
                <a:sym typeface="Times New Roman" panose="02020603050405020304"/>
              </a:rPr>
              <a:t>     Ms. Sri Vijaya, M.Tech, (Ph.D)</a:t>
            </a:r>
            <a:endParaRPr lang="en-US" sz="464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6500"/>
              </a:lnSpc>
            </a:pPr>
            <a:r>
              <a:rPr lang="en-US" sz="4640">
                <a:solidFill>
                  <a:srgbClr val="545454"/>
                </a:solidFill>
                <a:latin typeface="Times New Roman" panose="02020603050405020304"/>
                <a:ea typeface="Times New Roman" panose="02020603050405020304"/>
                <a:cs typeface="Times New Roman" panose="02020603050405020304"/>
                <a:sym typeface="Times New Roman" panose="02020603050405020304"/>
              </a:rPr>
              <a:t> Asst.Professor </a:t>
            </a:r>
            <a:endParaRPr lang="en-US" sz="464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6500"/>
              </a:lnSpc>
              <a:spcBef>
                <a:spcPct val="0"/>
              </a:spcBef>
            </a:pPr>
          </a:p>
        </p:txBody>
      </p:sp>
      <p:sp>
        <p:nvSpPr>
          <p:cNvPr id="10" name="TextBox 10"/>
          <p:cNvSpPr txBox="1"/>
          <p:nvPr/>
        </p:nvSpPr>
        <p:spPr>
          <a:xfrm>
            <a:off x="11785104" y="5871330"/>
            <a:ext cx="6502896" cy="4687757"/>
          </a:xfrm>
          <a:prstGeom prst="rect">
            <a:avLst/>
          </a:prstGeom>
        </p:spPr>
        <p:txBody>
          <a:bodyPr lIns="0" tIns="0" rIns="0" bIns="0" rtlCol="0" anchor="t">
            <a:spAutoFit/>
          </a:bodyPr>
          <a:lstStyle/>
          <a:p>
            <a:pPr algn="l">
              <a:lnSpc>
                <a:spcPts val="6220"/>
              </a:lnSpc>
              <a:spcBef>
                <a:spcPct val="0"/>
              </a:spcBef>
            </a:pPr>
            <a:r>
              <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rPr>
              <a:t>P</a:t>
            </a:r>
            <a:r>
              <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rPr>
              <a:t>resented by:</a:t>
            </a:r>
            <a:endPar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6220"/>
              </a:lnSpc>
              <a:spcBef>
                <a:spcPct val="0"/>
              </a:spcBef>
            </a:pPr>
            <a:r>
              <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rPr>
              <a:t>K.Aswani(22501A1260)</a:t>
            </a:r>
            <a:endPar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6220"/>
              </a:lnSpc>
              <a:spcBef>
                <a:spcPct val="0"/>
              </a:spcBef>
            </a:pPr>
            <a:r>
              <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rPr>
              <a:t>M.Gayathri(23505A1206)</a:t>
            </a:r>
            <a:endPar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6220"/>
              </a:lnSpc>
              <a:spcBef>
                <a:spcPct val="0"/>
              </a:spcBef>
            </a:pPr>
            <a:r>
              <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rPr>
              <a:t>K.Arun Babu(22501A1254) </a:t>
            </a:r>
            <a:endParaRPr lang="en-US" sz="444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6220"/>
              </a:lnSpc>
              <a:spcBef>
                <a:spcPct val="0"/>
              </a:spcBef>
            </a:pPr>
          </a:p>
          <a:p>
            <a:pPr algn="l">
              <a:lnSpc>
                <a:spcPts val="6220"/>
              </a:lnSpc>
              <a:spcBef>
                <a:spcPct val="0"/>
              </a:spcBef>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3" name="TextBox 3"/>
          <p:cNvSpPr txBox="1"/>
          <p:nvPr/>
        </p:nvSpPr>
        <p:spPr>
          <a:xfrm>
            <a:off x="-1126892" y="-200025"/>
            <a:ext cx="9205169" cy="2887917"/>
          </a:xfrm>
          <a:prstGeom prst="rect">
            <a:avLst/>
          </a:prstGeom>
        </p:spPr>
        <p:txBody>
          <a:bodyPr lIns="0" tIns="0" rIns="0" bIns="0" rtlCol="0" anchor="t">
            <a:spAutoFit/>
          </a:bodyPr>
          <a:lstStyle/>
          <a:p>
            <a:pPr algn="ctr">
              <a:lnSpc>
                <a:spcPts val="11450"/>
              </a:lnSpc>
            </a:pPr>
            <a:r>
              <a:rPr lang="en-US" sz="81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CONTENTS</a:t>
            </a:r>
            <a:endParaRPr lang="en-US" sz="81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11450"/>
              </a:lnSpc>
            </a:pPr>
          </a:p>
        </p:txBody>
      </p:sp>
      <p:sp>
        <p:nvSpPr>
          <p:cNvPr id="4" name="TextBox 4"/>
          <p:cNvSpPr txBox="1"/>
          <p:nvPr/>
        </p:nvSpPr>
        <p:spPr>
          <a:xfrm>
            <a:off x="1028700" y="1239171"/>
            <a:ext cx="10769455" cy="8584308"/>
          </a:xfrm>
          <a:prstGeom prst="rect">
            <a:avLst/>
          </a:prstGeom>
        </p:spPr>
        <p:txBody>
          <a:bodyPr lIns="0" tIns="0" rIns="0" bIns="0" rtlCol="0" anchor="t">
            <a:spAutoFit/>
          </a:bodyPr>
          <a:lstStyle/>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Abstract</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Existing System</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Drawbacks of Existing System</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Proposed System</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Software and Hardware Requirements</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Modules</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System Analysis</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System Requirement Specification</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System implementation</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Conclusion</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951865" lvl="1" indent="-476250" algn="l">
              <a:lnSpc>
                <a:spcPts val="6175"/>
              </a:lnSpc>
              <a:buFont typeface="Arial" panose="020B0604020202020204"/>
              <a:buChar char="•"/>
            </a:pPr>
            <a:r>
              <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rPr>
              <a:t>References</a:t>
            </a:r>
            <a:endParaRPr lang="en-US" sz="441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Freeform 5"/>
          <p:cNvSpPr/>
          <p:nvPr/>
        </p:nvSpPr>
        <p:spPr>
          <a:xfrm rot="5155735">
            <a:off x="15143100" y="7085038"/>
            <a:ext cx="4840370" cy="6758253"/>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5"/>
          <p:cNvSpPr/>
          <p:nvPr/>
        </p:nvSpPr>
        <p:spPr>
          <a:xfrm rot="4735735">
            <a:off x="-1852295" y="-2404110"/>
            <a:ext cx="4840605" cy="6266815"/>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541415" y="146308"/>
            <a:ext cx="9205169" cy="1489649"/>
          </a:xfrm>
          <a:prstGeom prst="rect">
            <a:avLst/>
          </a:prstGeom>
        </p:spPr>
        <p:txBody>
          <a:bodyPr lIns="0" tIns="0" rIns="0" bIns="0" rtlCol="0" anchor="t">
            <a:spAutoFit/>
          </a:bodyPr>
          <a:lstStyle/>
          <a:p>
            <a:pPr algn="ctr">
              <a:lnSpc>
                <a:spcPts val="11870"/>
              </a:lnSpc>
            </a:pPr>
            <a:r>
              <a:rPr lang="en-US" sz="8475">
                <a:solidFill>
                  <a:srgbClr val="3F3D3E"/>
                </a:solidFill>
                <a:latin typeface="Times New Roman" panose="02020603050405020304"/>
                <a:ea typeface="Times New Roman" panose="02020603050405020304"/>
                <a:cs typeface="Times New Roman" panose="02020603050405020304"/>
                <a:sym typeface="Times New Roman" panose="02020603050405020304"/>
              </a:rPr>
              <a:t>ABSTRACT</a:t>
            </a:r>
            <a:endParaRPr lang="en-US" sz="8475">
              <a:solidFill>
                <a:srgbClr val="3F3D3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Freeform 4"/>
          <p:cNvSpPr/>
          <p:nvPr/>
        </p:nvSpPr>
        <p:spPr>
          <a:xfrm rot="-574333">
            <a:off x="-1029392" y="5879173"/>
            <a:ext cx="4840370" cy="6758253"/>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0" y="2174511"/>
            <a:ext cx="18288000" cy="6869618"/>
          </a:xfrm>
          <a:prstGeom prst="rect">
            <a:avLst/>
          </a:prstGeom>
        </p:spPr>
        <p:txBody>
          <a:bodyPr lIns="0" tIns="0" rIns="0" bIns="0" rtlCol="0" anchor="t">
            <a:spAutoFit/>
          </a:bodyPr>
          <a:lstStyle/>
          <a:p>
            <a:pPr marL="1196340" lvl="1" indent="-598170" algn="just">
              <a:lnSpc>
                <a:spcPts val="7760"/>
              </a:lnSpc>
              <a:buFont typeface="Arial" panose="020B0604020202020204"/>
              <a:buChar char="•"/>
            </a:pPr>
            <a:r>
              <a:rPr lang="en-US" sz="5540">
                <a:solidFill>
                  <a:srgbClr val="3F3D3E"/>
                </a:solidFill>
                <a:latin typeface="Times New Roman" panose="02020603050405020304"/>
                <a:ea typeface="Times New Roman" panose="02020603050405020304"/>
                <a:cs typeface="Times New Roman" panose="02020603050405020304"/>
                <a:sym typeface="Times New Roman" panose="02020603050405020304"/>
              </a:rPr>
              <a:t>Online job</a:t>
            </a:r>
            <a:r>
              <a:rPr lang="en-US" sz="5540">
                <a:solidFill>
                  <a:srgbClr val="3F3D3E"/>
                </a:solidFill>
                <a:latin typeface="Times New Roman" panose="02020603050405020304"/>
                <a:ea typeface="Times New Roman" panose="02020603050405020304"/>
                <a:cs typeface="Times New Roman" panose="02020603050405020304"/>
                <a:sym typeface="Times New Roman" panose="02020603050405020304"/>
              </a:rPr>
              <a:t> platforms are widely used, but fake job postings are increasing rapidly.</a:t>
            </a:r>
            <a:endParaRPr lang="en-US" sz="5540">
              <a:solidFill>
                <a:srgbClr val="3F3D3E"/>
              </a:solidFill>
              <a:latin typeface="Times New Roman" panose="02020603050405020304"/>
              <a:ea typeface="Times New Roman" panose="02020603050405020304"/>
              <a:cs typeface="Times New Roman" panose="02020603050405020304"/>
              <a:sym typeface="Times New Roman" panose="02020603050405020304"/>
            </a:endParaRPr>
          </a:p>
          <a:p>
            <a:pPr marL="1196340" lvl="1" indent="-598170" algn="just">
              <a:lnSpc>
                <a:spcPts val="7760"/>
              </a:lnSpc>
              <a:buFont typeface="Arial" panose="020B0604020202020204"/>
              <a:buChar char="•"/>
            </a:pPr>
            <a:r>
              <a:rPr lang="en-US" sz="5540">
                <a:solidFill>
                  <a:srgbClr val="3F3D3E"/>
                </a:solidFill>
                <a:latin typeface="Times New Roman" panose="02020603050405020304"/>
                <a:ea typeface="Times New Roman" panose="02020603050405020304"/>
                <a:cs typeface="Times New Roman" panose="02020603050405020304"/>
                <a:sym typeface="Times New Roman" panose="02020603050405020304"/>
              </a:rPr>
              <a:t>This project uses Machine Learning and NLP techniques to analyze job descriptions and links.</a:t>
            </a:r>
            <a:endParaRPr lang="en-US" sz="5540">
              <a:solidFill>
                <a:srgbClr val="3F3D3E"/>
              </a:solidFill>
              <a:latin typeface="Times New Roman" panose="02020603050405020304"/>
              <a:ea typeface="Times New Roman" panose="02020603050405020304"/>
              <a:cs typeface="Times New Roman" panose="02020603050405020304"/>
              <a:sym typeface="Times New Roman" panose="02020603050405020304"/>
            </a:endParaRPr>
          </a:p>
          <a:p>
            <a:pPr marL="1196340" lvl="1" indent="-598170" algn="just">
              <a:lnSpc>
                <a:spcPts val="7760"/>
              </a:lnSpc>
              <a:buFont typeface="Arial" panose="020B0604020202020204"/>
              <a:buChar char="•"/>
            </a:pPr>
            <a:r>
              <a:rPr lang="en-US" sz="5540">
                <a:solidFill>
                  <a:srgbClr val="3F3D3E"/>
                </a:solidFill>
                <a:latin typeface="Times New Roman" panose="02020603050405020304"/>
                <a:ea typeface="Times New Roman" panose="02020603050405020304"/>
                <a:cs typeface="Times New Roman" panose="02020603050405020304"/>
                <a:sym typeface="Times New Roman" panose="02020603050405020304"/>
              </a:rPr>
              <a:t>A Streamlit-based web application is developed to provide real-time prediction of job authenticity.</a:t>
            </a:r>
            <a:endParaRPr lang="en-US" sz="5540">
              <a:solidFill>
                <a:srgbClr val="3F3D3E"/>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7760"/>
              </a:lnSpc>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452765" y="-8551"/>
            <a:ext cx="10230356" cy="1489649"/>
          </a:xfrm>
          <a:prstGeom prst="rect">
            <a:avLst/>
          </a:prstGeom>
        </p:spPr>
        <p:txBody>
          <a:bodyPr lIns="0" tIns="0" rIns="0" bIns="0" rtlCol="0" anchor="t">
            <a:spAutoFit/>
          </a:bodyPr>
          <a:lstStyle/>
          <a:p>
            <a:pPr algn="ctr">
              <a:lnSpc>
                <a:spcPts val="11870"/>
              </a:lnSpc>
            </a:pPr>
            <a:r>
              <a:rPr lang="en-US" sz="84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EXISTING SYSTEM</a:t>
            </a:r>
            <a:endParaRPr lang="en-US" sz="84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 name="TextBox 4"/>
          <p:cNvSpPr txBox="1"/>
          <p:nvPr/>
        </p:nvSpPr>
        <p:spPr>
          <a:xfrm>
            <a:off x="1490664" y="1717688"/>
            <a:ext cx="16154556" cy="7540612"/>
          </a:xfrm>
          <a:prstGeom prst="rect">
            <a:avLst/>
          </a:prstGeom>
        </p:spPr>
        <p:txBody>
          <a:bodyPr lIns="0" tIns="0" rIns="0" bIns="0" rtlCol="0" anchor="t">
            <a:spAutoFit/>
          </a:bodyPr>
          <a:lstStyle/>
          <a:p>
            <a:pPr algn="just">
              <a:lnSpc>
                <a:spcPts val="5380"/>
              </a:lnSpc>
            </a:pPr>
            <a:r>
              <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rPr>
              <a:t>Currently, most job portals depend on</a:t>
            </a:r>
            <a:endPar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869950" lvl="1" indent="-434975" algn="just">
              <a:lnSpc>
                <a:spcPts val="5645"/>
              </a:lnSpc>
              <a:buFont typeface="Arial" panose="020B0604020202020204"/>
              <a:buChar char="•"/>
            </a:pPr>
            <a:r>
              <a:rPr lang="en-US" sz="4030" b="1">
                <a:solidFill>
                  <a:srgbClr val="545454"/>
                </a:solidFill>
                <a:latin typeface="Times New Roman Bold" panose="02020803070505020304"/>
                <a:ea typeface="Times New Roman Bold" panose="02020803070505020304"/>
                <a:cs typeface="Times New Roman Bold" panose="02020803070505020304"/>
                <a:sym typeface="Times New Roman Bold" panose="02020803070505020304"/>
              </a:rPr>
              <a:t>M</a:t>
            </a:r>
            <a:r>
              <a:rPr lang="en-US" sz="4030" b="1">
                <a:solidFill>
                  <a:srgbClr val="545454"/>
                </a:solidFill>
                <a:latin typeface="Times New Roman Bold" panose="02020803070505020304"/>
                <a:ea typeface="Times New Roman Bold" panose="02020803070505020304"/>
                <a:cs typeface="Times New Roman Bold" panose="02020803070505020304"/>
                <a:sym typeface="Times New Roman Bold" panose="02020803070505020304"/>
              </a:rPr>
              <a:t>anual verification: </a:t>
            </a:r>
            <a:r>
              <a:rPr lang="en-US" sz="4030">
                <a:solidFill>
                  <a:srgbClr val="545454"/>
                </a:solidFill>
                <a:latin typeface="Times New Roman" panose="02020603050405020304"/>
                <a:ea typeface="Times New Roman" panose="02020603050405020304"/>
                <a:cs typeface="Times New Roman" panose="02020603050405020304"/>
                <a:sym typeface="Times New Roman" panose="02020603050405020304"/>
              </a:rPr>
              <a:t>where administrators check job postings manually. This process takes time and cannot handle large numbers of job posts efficiently.</a:t>
            </a:r>
            <a:endParaRPr lang="en-US" sz="403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829945" lvl="1" indent="-414655" algn="just">
              <a:lnSpc>
                <a:spcPts val="5380"/>
              </a:lnSpc>
              <a:buFont typeface="Arial" panose="020B0604020202020204"/>
              <a:buChar char="•"/>
            </a:pPr>
            <a:r>
              <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rPr>
              <a:t>They also rely on </a:t>
            </a:r>
            <a:r>
              <a:rPr lang="en-US" sz="3845" b="1">
                <a:solidFill>
                  <a:srgbClr val="545454"/>
                </a:solidFill>
                <a:latin typeface="Times New Roman Bold" panose="02020803070505020304"/>
                <a:ea typeface="Times New Roman Bold" panose="02020803070505020304"/>
                <a:cs typeface="Times New Roman Bold" panose="02020803070505020304"/>
                <a:sym typeface="Times New Roman Bold" panose="02020803070505020304"/>
              </a:rPr>
              <a:t>user reports</a:t>
            </a:r>
            <a:r>
              <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rPr>
              <a:t>, meaning fake jobs are removed only after someone complains. By that time, many users may already be affected.</a:t>
            </a:r>
            <a:endPar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829945" lvl="1" indent="-414655" algn="just">
              <a:lnSpc>
                <a:spcPts val="5380"/>
              </a:lnSpc>
              <a:buFont typeface="Arial" panose="020B0604020202020204"/>
              <a:buChar char="•"/>
            </a:pPr>
            <a:r>
              <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rPr>
              <a:t>Some platforms use </a:t>
            </a:r>
            <a:r>
              <a:rPr lang="en-US" sz="3845" b="1">
                <a:solidFill>
                  <a:srgbClr val="545454"/>
                </a:solidFill>
                <a:latin typeface="Times New Roman Bold" panose="02020803070505020304"/>
                <a:ea typeface="Times New Roman Bold" panose="02020803070505020304"/>
                <a:cs typeface="Times New Roman Bold" panose="02020803070505020304"/>
                <a:sym typeface="Times New Roman Bold" panose="02020803070505020304"/>
              </a:rPr>
              <a:t>basic rule-based filtering,</a:t>
            </a:r>
            <a:r>
              <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rPr>
              <a:t> such as checking for certain suspicious keywords. However, these fixed rules cannot detect advanced or cleverly written fake job posts.</a:t>
            </a:r>
            <a:endPar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829945" lvl="1" indent="-414655" algn="just">
              <a:lnSpc>
                <a:spcPts val="5380"/>
              </a:lnSpc>
              <a:buFont typeface="Arial" panose="020B0604020202020204"/>
              <a:buChar char="•"/>
            </a:pPr>
            <a:r>
              <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rPr>
              <a:t>Therefore, the existing system is </a:t>
            </a:r>
            <a:r>
              <a:rPr lang="en-US" sz="3845" b="1">
                <a:solidFill>
                  <a:srgbClr val="545454"/>
                </a:solidFill>
                <a:latin typeface="Times New Roman Bold" panose="02020803070505020304"/>
                <a:ea typeface="Times New Roman Bold" panose="02020803070505020304"/>
                <a:cs typeface="Times New Roman Bold" panose="02020803070505020304"/>
                <a:sym typeface="Times New Roman Bold" panose="02020803070505020304"/>
              </a:rPr>
              <a:t>slow, reactive, and not fully reliable </a:t>
            </a:r>
            <a:r>
              <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rPr>
              <a:t>in preventing job fraud.</a:t>
            </a:r>
            <a:endParaRPr lang="en-US" sz="384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1631181" y="-228419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p>
            <a:endParaRPr lang="en-US"/>
          </a:p>
        </p:txBody>
      </p:sp>
      <p:sp>
        <p:nvSpPr>
          <p:cNvPr id="3" name="TextBox 3"/>
          <p:cNvSpPr txBox="1"/>
          <p:nvPr/>
        </p:nvSpPr>
        <p:spPr>
          <a:xfrm>
            <a:off x="-1557613" y="554619"/>
            <a:ext cx="19200490" cy="1108710"/>
          </a:xfrm>
          <a:prstGeom prst="rect">
            <a:avLst/>
          </a:prstGeom>
        </p:spPr>
        <p:txBody>
          <a:bodyPr lIns="0" tIns="0" rIns="0" bIns="0" rtlCol="0" anchor="t">
            <a:spAutoFit/>
          </a:bodyPr>
          <a:lstStyle/>
          <a:p>
            <a:pPr algn="ctr">
              <a:lnSpc>
                <a:spcPts val="8650"/>
              </a:lnSpc>
            </a:pPr>
            <a:r>
              <a:rPr lang="en-US" sz="61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             DRAWBACKS OF EXISTING SYSTEM</a:t>
            </a:r>
            <a:endParaRPr lang="en-US" sz="61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 name="TextBox 4"/>
          <p:cNvSpPr txBox="1"/>
          <p:nvPr/>
        </p:nvSpPr>
        <p:spPr>
          <a:xfrm>
            <a:off x="231232" y="2381432"/>
            <a:ext cx="17848608" cy="5898038"/>
          </a:xfrm>
          <a:prstGeom prst="rect">
            <a:avLst/>
          </a:prstGeom>
        </p:spPr>
        <p:txBody>
          <a:bodyPr lIns="0" tIns="0" rIns="0" bIns="0" rtlCol="0" anchor="t">
            <a:spAutoFit/>
          </a:bodyPr>
          <a:lstStyle/>
          <a:p>
            <a:pPr marL="1439545" lvl="1" indent="-720090" algn="l">
              <a:lnSpc>
                <a:spcPts val="9335"/>
              </a:lnSpc>
              <a:buFont typeface="Arial" panose="020B0604020202020204"/>
              <a:buChar char="•"/>
            </a:pPr>
            <a:r>
              <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rPr>
              <a:t>T</a:t>
            </a:r>
            <a:r>
              <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rPr>
              <a:t>ime-consuming</a:t>
            </a:r>
            <a:endPar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439545" lvl="1" indent="-720090" algn="l">
              <a:lnSpc>
                <a:spcPts val="9335"/>
              </a:lnSpc>
              <a:buFont typeface="Arial" panose="020B0604020202020204"/>
              <a:buChar char="•"/>
            </a:pPr>
            <a:r>
              <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rPr>
              <a:t>High risk of fraud</a:t>
            </a:r>
            <a:endPar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439545" lvl="1" indent="-720090" algn="l">
              <a:lnSpc>
                <a:spcPts val="9335"/>
              </a:lnSpc>
              <a:buFont typeface="Arial" panose="020B0604020202020204"/>
              <a:buChar char="•"/>
            </a:pPr>
            <a:r>
              <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rPr>
              <a:t>No real-time analysis</a:t>
            </a:r>
            <a:endPar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439545" lvl="1" indent="-720090" algn="l">
              <a:lnSpc>
                <a:spcPts val="9335"/>
              </a:lnSpc>
              <a:buFont typeface="Arial" panose="020B0604020202020204"/>
              <a:buChar char="•"/>
            </a:pPr>
            <a:r>
              <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rPr>
              <a:t>Cannot detect new fake patterns</a:t>
            </a:r>
            <a:endParaRPr lang="en-US" sz="66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9335"/>
              </a:lnSpc>
            </a:p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 Box 5"/>
          <p:cNvSpPr txBox="1"/>
          <p:nvPr/>
        </p:nvSpPr>
        <p:spPr>
          <a:xfrm>
            <a:off x="11969115" y="8840470"/>
            <a:ext cx="6096000" cy="368300"/>
          </a:xfrm>
          <a:prstGeom prst="rect">
            <a:avLst/>
          </a:prstGeom>
          <a:noFill/>
        </p:spPr>
        <p:txBody>
          <a:bodyPr wrap="square" rtlCol="0">
            <a:sp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1859781" y="-2216245"/>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9980295" y="1464945"/>
            <a:ext cx="7811135" cy="8515985"/>
          </a:xfrm>
          <a:custGeom>
            <a:avLst/>
            <a:gdLst/>
            <a:ahLst/>
            <a:cxnLst/>
            <a:rect l="l" t="t" r="r" b="b"/>
            <a:pathLst>
              <a:path w="7629571" h="8344999">
                <a:moveTo>
                  <a:pt x="0" y="0"/>
                </a:moveTo>
                <a:lnTo>
                  <a:pt x="7629571" y="0"/>
                </a:lnTo>
                <a:lnTo>
                  <a:pt x="7629571" y="8344999"/>
                </a:lnTo>
                <a:lnTo>
                  <a:pt x="0" y="8344999"/>
                </a:lnTo>
                <a:lnTo>
                  <a:pt x="0" y="0"/>
                </a:lnTo>
                <a:close/>
              </a:path>
            </a:pathLst>
          </a:custGeom>
          <a:blipFill>
            <a:blip r:embed="rId3"/>
            <a:stretch>
              <a:fillRect l="-5235" r="-5235" b="-3652"/>
            </a:stretch>
          </a:blipFill>
        </p:spPr>
      </p:sp>
      <p:sp>
        <p:nvSpPr>
          <p:cNvPr id="4" name="TextBox 4"/>
          <p:cNvSpPr txBox="1"/>
          <p:nvPr/>
        </p:nvSpPr>
        <p:spPr>
          <a:xfrm>
            <a:off x="3654674" y="-200025"/>
            <a:ext cx="11553177" cy="1440117"/>
          </a:xfrm>
          <a:prstGeom prst="rect">
            <a:avLst/>
          </a:prstGeom>
        </p:spPr>
        <p:txBody>
          <a:bodyPr lIns="0" tIns="0" rIns="0" bIns="0" rtlCol="0" anchor="t">
            <a:spAutoFit/>
          </a:bodyPr>
          <a:lstStyle/>
          <a:p>
            <a:pPr algn="ctr">
              <a:lnSpc>
                <a:spcPts val="11450"/>
              </a:lnSpc>
            </a:pPr>
            <a:r>
              <a:rPr lang="en-US" sz="81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PROPOSED SYSTEM</a:t>
            </a:r>
            <a:endParaRPr lang="en-US" sz="81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5" name="TextBox 5"/>
          <p:cNvSpPr txBox="1"/>
          <p:nvPr/>
        </p:nvSpPr>
        <p:spPr>
          <a:xfrm>
            <a:off x="70095" y="1512132"/>
            <a:ext cx="10261091" cy="8506924"/>
          </a:xfrm>
          <a:prstGeom prst="rect">
            <a:avLst/>
          </a:prstGeom>
        </p:spPr>
        <p:txBody>
          <a:bodyPr lIns="0" tIns="0" rIns="0" bIns="0" rtlCol="0" anchor="t">
            <a:spAutoFit/>
          </a:bodyPr>
          <a:lstStyle/>
          <a:p>
            <a:pPr marL="1033780" lvl="1" indent="-516890" algn="l">
              <a:lnSpc>
                <a:spcPts val="6700"/>
              </a:lnSpc>
              <a:buFont typeface="Arial" panose="020B0604020202020204"/>
              <a:buChar char="•"/>
            </a:pP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Uses Supervised Machine Learning</a:t>
            </a:r>
            <a:endPar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33780" lvl="1" indent="-516890" algn="l">
              <a:lnSpc>
                <a:spcPts val="6700"/>
              </a:lnSpc>
              <a:buFont typeface="Arial" panose="020B0604020202020204"/>
              <a:buChar char="•"/>
            </a:pP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Analyzes:</a:t>
            </a:r>
            <a:endPar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2066925" lvl="2" indent="-688975" algn="l">
              <a:lnSpc>
                <a:spcPts val="6700"/>
              </a:lnSpc>
              <a:buFont typeface="Arial" panose="020B0604020202020204"/>
              <a:buChar char="⚬"/>
            </a:pP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Job description</a:t>
            </a:r>
            <a:endPar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2066925" lvl="2" indent="-688975" algn="l">
              <a:lnSpc>
                <a:spcPts val="6700"/>
              </a:lnSpc>
              <a:buFont typeface="Arial" panose="020B0604020202020204"/>
              <a:buChar char="⚬"/>
            </a:pP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Job links (URL analysis)</a:t>
            </a:r>
            <a:endPar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2066925" lvl="2" indent="-688975" algn="l">
              <a:lnSpc>
                <a:spcPts val="6700"/>
              </a:lnSpc>
              <a:buFont typeface="Arial" panose="020B0604020202020204"/>
              <a:buChar char="⚬"/>
            </a:pP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Dataset Evaluation</a:t>
            </a:r>
            <a:endPar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33780" lvl="1" indent="-516890" algn="l">
              <a:lnSpc>
                <a:spcPts val="6700"/>
              </a:lnSpc>
              <a:buFont typeface="Arial" panose="020B0604020202020204"/>
              <a:buChar char="•"/>
            </a:pP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Provides Real / Fake prediction ins</a:t>
            </a: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tantly</a:t>
            </a:r>
            <a:endPar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33780" lvl="1" indent="-516890" algn="l">
              <a:lnSpc>
                <a:spcPts val="6700"/>
              </a:lnSpc>
              <a:buFont typeface="Arial" panose="020B0604020202020204"/>
              <a:buChar char="•"/>
            </a:pP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Implemen</a:t>
            </a:r>
            <a:r>
              <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rPr>
              <a:t>ted using Streamlit web app</a:t>
            </a:r>
            <a:endParaRPr lang="en-US" sz="4785">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6700"/>
              </a:lnSpc>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1631181" y="-1987645"/>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769920" y="-21338"/>
            <a:ext cx="9205169" cy="1657295"/>
          </a:xfrm>
          <a:prstGeom prst="rect">
            <a:avLst/>
          </a:prstGeom>
        </p:spPr>
        <p:txBody>
          <a:bodyPr lIns="0" tIns="0" rIns="0" bIns="0" rtlCol="0" anchor="t">
            <a:spAutoFit/>
          </a:bodyPr>
          <a:lstStyle/>
          <a:p>
            <a:pPr algn="ctr">
              <a:lnSpc>
                <a:spcPts val="13130"/>
              </a:lnSpc>
            </a:pPr>
            <a:r>
              <a:rPr lang="en-US" sz="93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ADVANTAGES</a:t>
            </a:r>
            <a:endParaRPr lang="en-US" sz="93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 name="TextBox 4"/>
          <p:cNvSpPr txBox="1"/>
          <p:nvPr/>
        </p:nvSpPr>
        <p:spPr>
          <a:xfrm>
            <a:off x="1382663" y="2150310"/>
            <a:ext cx="16524647" cy="6105873"/>
          </a:xfrm>
          <a:prstGeom prst="rect">
            <a:avLst/>
          </a:prstGeom>
        </p:spPr>
        <p:txBody>
          <a:bodyPr lIns="0" tIns="0" rIns="0" bIns="0" rtlCol="0" anchor="t">
            <a:spAutoFit/>
          </a:bodyPr>
          <a:lstStyle/>
          <a:p>
            <a:pPr marL="1487805" lvl="1" indent="-744220" algn="l">
              <a:lnSpc>
                <a:spcPts val="9645"/>
              </a:lnSpc>
              <a:buFont typeface="Arial" panose="020B0604020202020204"/>
              <a:buChar char="•"/>
            </a:pPr>
            <a:r>
              <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rPr>
              <a:t>Fast</a:t>
            </a:r>
            <a:r>
              <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rPr>
              <a:t> and accurate detection</a:t>
            </a:r>
            <a:endPar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487805" lvl="1" indent="-744220" algn="l">
              <a:lnSpc>
                <a:spcPts val="9645"/>
              </a:lnSpc>
              <a:buFont typeface="Arial" panose="020B0604020202020204"/>
              <a:buChar char="•"/>
            </a:pPr>
            <a:r>
              <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rPr>
              <a:t>User-friendly interface</a:t>
            </a:r>
            <a:endPar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487805" lvl="1" indent="-744220" algn="l">
              <a:lnSpc>
                <a:spcPts val="9645"/>
              </a:lnSpc>
              <a:buFont typeface="Arial" panose="020B0604020202020204"/>
              <a:buChar char="•"/>
            </a:pPr>
            <a:r>
              <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rPr>
              <a:t>Supports manual input + link-based checking</a:t>
            </a:r>
            <a:endPar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487805" lvl="1" indent="-744220" algn="l">
              <a:lnSpc>
                <a:spcPts val="9645"/>
              </a:lnSpc>
              <a:buFont typeface="Arial" panose="020B0604020202020204"/>
              <a:buChar char="•"/>
            </a:pPr>
            <a:r>
              <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rPr>
              <a:t>Reduces job scams</a:t>
            </a:r>
            <a:endParaRPr lang="en-US" sz="689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Freeform 5"/>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1784216" y="-252041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15692120" y="7967345"/>
            <a:ext cx="4840605" cy="467868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195705" y="1234440"/>
            <a:ext cx="11590655" cy="8950325"/>
          </a:xfrm>
          <a:prstGeom prst="rect">
            <a:avLst/>
          </a:prstGeom>
        </p:spPr>
        <p:txBody>
          <a:bodyPr lIns="0" tIns="0" rIns="0" bIns="0" rtlCol="0" anchor="t">
            <a:noAutofit/>
          </a:bodyPr>
          <a:lstStyle/>
          <a:p>
            <a:pPr algn="l">
              <a:lnSpc>
                <a:spcPts val="2985"/>
              </a:lnSpc>
              <a:spcBef>
                <a:spcPct val="0"/>
              </a:spcBef>
            </a:pPr>
            <a:r>
              <a:rPr lang="en-US" sz="213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SOFTWARE REQUIREMENTS: </a:t>
            </a:r>
            <a:endParaRPr lang="en-US" sz="213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Operating System: Windows / Linux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Programming Language: Python</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Model Development Environment: Google Colab (for training model and creating .pkl files)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Frontend Framework: Streamlit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Libraries: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         Scikit-learn (ML models)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Pandas (data processing)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NumPy (numerical operations)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Matplotlib (visualization)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seaborn (graphs &amp; confusion matrix)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Requests (fetch job links)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BeautifulSoup (web scraping)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Pickle (model loading)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Environment: Anaconda / Virtual Environment (venv)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IDE: VS Code / PyCharm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Browser: Google Chrome / Edge (to run Streamlit UI)</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2985"/>
              </a:lnSpc>
              <a:spcBef>
                <a:spcPct val="0"/>
              </a:spcBef>
            </a:pPr>
            <a:r>
              <a:rPr lang="en-US" sz="213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HARDWARE REQUIREMENTS: </a:t>
            </a:r>
            <a:endParaRPr lang="en-US" sz="213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Processor: Dual Core Processor or above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RAM: Minimum 4 GB (8 GB recommended for smooth performance)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Hard Disk: Minimum 1–2 GB free space (since no heavy DB used)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System Type: 64-bit system (recommended) </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0375" lvl="1" indent="-230505" algn="l">
              <a:lnSpc>
                <a:spcPts val="2985"/>
              </a:lnSpc>
              <a:buFont typeface="Arial" panose="020B0604020202020204"/>
              <a:buChar char="•"/>
            </a:pPr>
            <a:r>
              <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rPr>
              <a:t>Internet Connection: Required (for job link analysis)</a:t>
            </a:r>
            <a:endParaRPr lang="en-US" sz="213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5"/>
          <p:cNvSpPr txBox="1"/>
          <p:nvPr/>
        </p:nvSpPr>
        <p:spPr>
          <a:xfrm>
            <a:off x="685800" y="248285"/>
            <a:ext cx="16965295" cy="956945"/>
          </a:xfrm>
          <a:prstGeom prst="rect">
            <a:avLst/>
          </a:prstGeom>
        </p:spPr>
        <p:txBody>
          <a:bodyPr wrap="square" lIns="0" tIns="0" rIns="0" bIns="0" rtlCol="0" anchor="t">
            <a:noAutofit/>
          </a:bodyPr>
          <a:lstStyle/>
          <a:p>
            <a:pPr algn="ctr">
              <a:lnSpc>
                <a:spcPts val="7810"/>
              </a:lnSpc>
              <a:spcBef>
                <a:spcPct val="0"/>
              </a:spcBef>
            </a:pPr>
            <a:r>
              <a:rPr lang="en-US" sz="55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SOFTWARE AND HARDWARE REQUIREMENTS</a:t>
            </a:r>
            <a:r>
              <a:rPr lang="en-US" sz="55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55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1101090" y="-1985010"/>
            <a:ext cx="4139565" cy="6204585"/>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086520" y="327923"/>
            <a:ext cx="13151518" cy="1308033"/>
          </a:xfrm>
          <a:prstGeom prst="rect">
            <a:avLst/>
          </a:prstGeom>
        </p:spPr>
        <p:txBody>
          <a:bodyPr lIns="0" tIns="0" rIns="0" bIns="0" rtlCol="0" anchor="t">
            <a:spAutoFit/>
          </a:bodyPr>
          <a:lstStyle/>
          <a:p>
            <a:pPr algn="l">
              <a:lnSpc>
                <a:spcPts val="10330"/>
              </a:lnSpc>
            </a:pPr>
            <a:r>
              <a:rPr lang="en-US" sz="73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MODULES</a:t>
            </a:r>
            <a:endParaRPr lang="en-US" sz="737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 name="TextBox 4"/>
          <p:cNvSpPr txBox="1"/>
          <p:nvPr/>
        </p:nvSpPr>
        <p:spPr>
          <a:xfrm>
            <a:off x="1401822" y="1869919"/>
            <a:ext cx="13980014" cy="7388381"/>
          </a:xfrm>
          <a:prstGeom prst="rect">
            <a:avLst/>
          </a:prstGeom>
        </p:spPr>
        <p:txBody>
          <a:bodyPr lIns="0" tIns="0" rIns="0" bIns="0" rtlCol="0" anchor="t">
            <a:spAutoFit/>
          </a:bodyPr>
          <a:lstStyle/>
          <a:p>
            <a:pPr marL="1050925" lvl="1" indent="-525780" algn="l">
              <a:lnSpc>
                <a:spcPts val="6815"/>
              </a:lnSpc>
              <a:buFont typeface="Arial" panose="020B0604020202020204"/>
              <a:buChar char="•"/>
            </a:pP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Data Collection</a:t>
            </a:r>
            <a:endPar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50925" lvl="1" indent="-525780" algn="l">
              <a:lnSpc>
                <a:spcPts val="6815"/>
              </a:lnSpc>
              <a:buFont typeface="Arial" panose="020B0604020202020204"/>
              <a:buChar char="•"/>
            </a:pP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D</a:t>
            </a: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ata Preprocessing</a:t>
            </a:r>
            <a:endPar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50925" lvl="1" indent="-525780" algn="l">
              <a:lnSpc>
                <a:spcPts val="6815"/>
              </a:lnSpc>
              <a:buFont typeface="Arial" panose="020B0604020202020204"/>
              <a:buChar char="•"/>
            </a:pP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Feature Extraction (TF-IDF)</a:t>
            </a:r>
            <a:endPar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50925" lvl="1" indent="-525780" algn="l">
              <a:lnSpc>
                <a:spcPts val="6815"/>
              </a:lnSpc>
              <a:buFont typeface="Arial" panose="020B0604020202020204"/>
              <a:buChar char="•"/>
            </a:pP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Model Training</a:t>
            </a:r>
            <a:endPar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50925" lvl="1" indent="-525780" algn="l">
              <a:lnSpc>
                <a:spcPts val="6815"/>
              </a:lnSpc>
              <a:buFont typeface="Arial" panose="020B0604020202020204"/>
              <a:buChar char="•"/>
            </a:pP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Manual Job Description Analysis</a:t>
            </a:r>
            <a:endPar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50925" lvl="1" indent="-525780" algn="l">
              <a:lnSpc>
                <a:spcPts val="6815"/>
              </a:lnSpc>
              <a:buFont typeface="Arial" panose="020B0604020202020204"/>
              <a:buChar char="•"/>
            </a:pP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Link Analysis</a:t>
            </a:r>
            <a:endPar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50925" lvl="1" indent="-525780" algn="l">
              <a:lnSpc>
                <a:spcPts val="6815"/>
              </a:lnSpc>
              <a:buFont typeface="Arial" panose="020B0604020202020204"/>
              <a:buChar char="•"/>
            </a:pP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Dataset Evaluation Module</a:t>
            </a:r>
            <a:endPar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marL="1050925" lvl="1" indent="-525780" algn="l">
              <a:lnSpc>
                <a:spcPts val="6815"/>
              </a:lnSpc>
              <a:buFont typeface="Arial" panose="020B0604020202020204"/>
              <a:buChar char="•"/>
            </a:pP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Pred</a:t>
            </a: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i</a:t>
            </a:r>
            <a:r>
              <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rPr>
              <a:t>ction &amp; Output</a:t>
            </a:r>
            <a:endParaRPr lang="en-US" sz="4870">
              <a:solidFill>
                <a:srgbClr val="545454"/>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015"/>
              </a:lnSpc>
            </a:pPr>
          </a:p>
        </p:txBody>
      </p:sp>
      <p:sp>
        <p:nvSpPr>
          <p:cNvPr id="5" name="Freeform 5"/>
          <p:cNvSpPr/>
          <p:nvPr/>
        </p:nvSpPr>
        <p:spPr>
          <a:xfrm rot="-574333">
            <a:off x="-1094105" y="6555740"/>
            <a:ext cx="4830445" cy="623062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2901950" y="-57150"/>
            <a:ext cx="12555220" cy="1518285"/>
          </a:xfrm>
          <a:prstGeom prst="rect">
            <a:avLst/>
          </a:prstGeom>
        </p:spPr>
        <p:txBody>
          <a:bodyPr lIns="0" tIns="0" rIns="0" bIns="0" rtlCol="0" anchor="t">
            <a:noAutofit/>
          </a:bodyPr>
          <a:lstStyle/>
          <a:p>
            <a:pPr algn="ctr">
              <a:lnSpc>
                <a:spcPts val="11450"/>
              </a:lnSpc>
              <a:spcBef>
                <a:spcPct val="0"/>
              </a:spcBef>
            </a:pPr>
            <a:r>
              <a:rPr lang="en-US" sz="81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a:t>
            </a:r>
            <a:r>
              <a:rPr lang="en-US" sz="81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YSTEM ANALYSIS</a:t>
            </a:r>
            <a:endParaRPr lang="en-US" sz="81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3" name="TextBox 3"/>
          <p:cNvSpPr txBox="1"/>
          <p:nvPr/>
        </p:nvSpPr>
        <p:spPr>
          <a:xfrm>
            <a:off x="4038600" y="1714500"/>
            <a:ext cx="10147300" cy="7415530"/>
          </a:xfrm>
          <a:prstGeom prst="rect">
            <a:avLst/>
          </a:prstGeom>
        </p:spPr>
        <p:txBody>
          <a:bodyPr lIns="0" tIns="0" rIns="0" bIns="0" rtlCol="0" anchor="t">
            <a:noAutofit/>
          </a:bodyPr>
          <a:lstStyle/>
          <a:p>
            <a:pPr algn="l">
              <a:lnSpc>
                <a:spcPts val="6970"/>
              </a:lnSpc>
            </a:pPr>
            <a:r>
              <a:rPr lang="en-US" sz="4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SCENARIO BASED MODELLING:</a:t>
            </a:r>
            <a:endParaRPr lang="en-US" sz="4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6970"/>
              </a:lnSpc>
            </a:pPr>
            <a:r>
              <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rPr>
              <a:t>USE CASE DIAGRAM</a:t>
            </a:r>
            <a:endPar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6970"/>
              </a:lnSpc>
            </a:pPr>
            <a:r>
              <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rPr>
              <a:t> ACTIVITY</a:t>
            </a:r>
            <a:r>
              <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rPr>
              <a:t> DIAGRAMS</a:t>
            </a:r>
            <a:endPar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6970"/>
              </a:lnSpc>
            </a:pPr>
            <a:r>
              <a:rPr lang="en-US" sz="4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BEHAVIOURAL MODELLING:</a:t>
            </a:r>
            <a:endParaRPr lang="en-US" sz="4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6970"/>
              </a:lnSpc>
            </a:pPr>
            <a:r>
              <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rPr>
              <a:t>STATE CHART DIAGRAMS</a:t>
            </a:r>
            <a:endPar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6970"/>
              </a:lnSpc>
            </a:pPr>
            <a:r>
              <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rPr>
              <a:t>SEQUENCE DIAGRAMS</a:t>
            </a:r>
            <a:endPar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6970"/>
              </a:lnSpc>
            </a:pPr>
            <a:r>
              <a:rPr lang="en-US" sz="4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CLASS BASED </a:t>
            </a:r>
            <a:r>
              <a:rPr lang="en-US" sz="4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MODELLING:</a:t>
            </a:r>
            <a:endParaRPr lang="en-US" sz="4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6970"/>
              </a:lnSpc>
              <a:spcBef>
                <a:spcPct val="0"/>
              </a:spcBef>
            </a:pPr>
            <a:r>
              <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rPr>
              <a:t>CLASS DIAGRAM</a:t>
            </a:r>
            <a:endParaRPr lang="en-US" sz="4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Freeform 4"/>
          <p:cNvSpPr/>
          <p:nvPr/>
        </p:nvSpPr>
        <p:spPr>
          <a:xfrm rot="16640537">
            <a:off x="15828645" y="6402705"/>
            <a:ext cx="3797300" cy="5448935"/>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rot="16760537">
            <a:off x="-829310" y="-2472690"/>
            <a:ext cx="3419475" cy="4928870"/>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5097145" y="11430"/>
            <a:ext cx="8842375" cy="1478280"/>
          </a:xfrm>
          <a:prstGeom prst="rect">
            <a:avLst/>
          </a:prstGeom>
        </p:spPr>
        <p:txBody>
          <a:bodyPr lIns="0" tIns="0" rIns="0" bIns="0" rtlCol="0" anchor="t">
            <a:noAutofit/>
          </a:bodyPr>
          <a:lstStyle/>
          <a:p>
            <a:pPr algn="ctr">
              <a:lnSpc>
                <a:spcPts val="12845"/>
              </a:lnSpc>
              <a:spcBef>
                <a:spcPct val="0"/>
              </a:spcBef>
            </a:pPr>
            <a:r>
              <a:rPr lang="en-US" sz="91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DESCRIPTION</a:t>
            </a:r>
            <a:endParaRPr lang="en-US" sz="91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3" name="Freeform 3"/>
          <p:cNvSpPr/>
          <p:nvPr/>
        </p:nvSpPr>
        <p:spPr>
          <a:xfrm rot="5400000">
            <a:off x="-1181100" y="-1676400"/>
            <a:ext cx="4364355" cy="5659755"/>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616866">
            <a:off x="15941675" y="7021195"/>
            <a:ext cx="4226560" cy="5374005"/>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533400" y="1993265"/>
            <a:ext cx="17137380" cy="7932420"/>
          </a:xfrm>
          <a:prstGeom prst="rect">
            <a:avLst/>
          </a:prstGeom>
        </p:spPr>
        <p:txBody>
          <a:bodyPr lIns="0" tIns="0" rIns="0" bIns="0" rtlCol="0" anchor="t">
            <a:noAutofit/>
          </a:bodyPr>
          <a:lstStyle/>
          <a:p>
            <a:pPr algn="just">
              <a:lnSpc>
                <a:spcPts val="5425"/>
              </a:lnSpc>
              <a:spcBef>
                <a:spcPct val="0"/>
              </a:spcBef>
            </a:pPr>
            <a:r>
              <a:rPr lang="en-US" sz="38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Usecase Diagram:</a:t>
            </a:r>
            <a:r>
              <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rPr>
              <a:t> It sh</a:t>
            </a:r>
            <a:r>
              <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rPr>
              <a:t>ows set of use cases and actors and their relationships. It addresses the static design view of a system.</a:t>
            </a:r>
            <a:endPar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5425"/>
              </a:lnSpc>
              <a:spcBef>
                <a:spcPct val="0"/>
              </a:spcBef>
            </a:pPr>
            <a:r>
              <a:rPr lang="en-US" sz="38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Activity Diagram: </a:t>
            </a:r>
            <a:r>
              <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rPr>
              <a:t>It is a special kind of State chart diagram that shows the flow from activity-activity within a system. It addresses the dynamic view of system.</a:t>
            </a:r>
            <a:endPar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5425"/>
              </a:lnSpc>
              <a:spcBef>
                <a:spcPct val="0"/>
              </a:spcBef>
            </a:pPr>
            <a:r>
              <a:rPr lang="en-US" sz="38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State chart Diagram: </a:t>
            </a:r>
            <a:r>
              <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rPr>
              <a:t>It describes a state machine and can be defined as a machine which defines different states of an object and these states are controlled by external or internal events.</a:t>
            </a:r>
            <a:endPar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5425"/>
              </a:lnSpc>
              <a:spcBef>
                <a:spcPct val="0"/>
              </a:spcBef>
            </a:pPr>
            <a:r>
              <a:rPr lang="en-US" sz="38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Sequence Diagram:</a:t>
            </a:r>
            <a:r>
              <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rPr>
              <a:t>It is an interaction diagram that emphasizes the tine ordering messages.</a:t>
            </a:r>
            <a:endPar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5425"/>
              </a:lnSpc>
              <a:spcBef>
                <a:spcPct val="0"/>
              </a:spcBef>
            </a:pPr>
            <a:r>
              <a:rPr lang="en-US" sz="38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Class Diagram:</a:t>
            </a:r>
            <a:r>
              <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rPr>
              <a:t> A class diagram show’s set of classes interfaces collaboration’s and their relationships. Class diagram address the static design view of a system.</a:t>
            </a:r>
            <a:endParaRPr lang="en-US" sz="38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2764790" y="166370"/>
            <a:ext cx="13602970" cy="1496695"/>
          </a:xfrm>
          <a:prstGeom prst="rect">
            <a:avLst/>
          </a:prstGeom>
        </p:spPr>
        <p:txBody>
          <a:bodyPr wrap="square" lIns="0" tIns="0" rIns="0" bIns="0" rtlCol="0" anchor="t">
            <a:noAutofit/>
          </a:bodyPr>
          <a:lstStyle/>
          <a:p>
            <a:pPr algn="ctr">
              <a:lnSpc>
                <a:spcPts val="12005"/>
              </a:lnSpc>
              <a:spcBef>
                <a:spcPct val="0"/>
              </a:spcBef>
            </a:pPr>
            <a:r>
              <a:rPr lang="en-US" sz="85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USE-CASE DIAGRAM DIAGRAM</a:t>
            </a:r>
            <a:endParaRPr lang="en-US" sz="85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3" name="Freeform 3"/>
          <p:cNvSpPr/>
          <p:nvPr/>
        </p:nvSpPr>
        <p:spPr>
          <a:xfrm rot="5400000">
            <a:off x="-1125220" y="-1656080"/>
            <a:ext cx="4136390" cy="5695950"/>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15936595" y="7571105"/>
            <a:ext cx="3590925" cy="5136515"/>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3546475" y="1705610"/>
            <a:ext cx="12068175" cy="8357870"/>
          </a:xfrm>
          <a:custGeom>
            <a:avLst/>
            <a:gdLst/>
            <a:ahLst/>
            <a:cxnLst/>
            <a:rect l="l" t="t" r="r" b="b"/>
            <a:pathLst>
              <a:path w="9583073" h="7682527">
                <a:moveTo>
                  <a:pt x="0" y="0"/>
                </a:moveTo>
                <a:lnTo>
                  <a:pt x="9583073" y="0"/>
                </a:lnTo>
                <a:lnTo>
                  <a:pt x="9583073" y="7682528"/>
                </a:lnTo>
                <a:lnTo>
                  <a:pt x="0" y="7682528"/>
                </a:lnTo>
                <a:lnTo>
                  <a:pt x="0" y="0"/>
                </a:lnTo>
                <a:close/>
              </a:path>
            </a:pathLst>
          </a:custGeom>
          <a:blipFill>
            <a:blip r:embed="rId3"/>
            <a:stretch>
              <a:fillRect l="-1634" t="-5950" r="-1634"/>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464185" y="-1402080"/>
            <a:ext cx="3212465" cy="5027295"/>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4499610" y="1726565"/>
            <a:ext cx="10841990" cy="8065770"/>
          </a:xfrm>
          <a:custGeom>
            <a:avLst/>
            <a:gdLst/>
            <a:ahLst/>
            <a:cxnLst/>
            <a:rect l="l" t="t" r="r" b="b"/>
            <a:pathLst>
              <a:path w="5679529" h="9383868">
                <a:moveTo>
                  <a:pt x="0" y="0"/>
                </a:moveTo>
                <a:lnTo>
                  <a:pt x="5679528" y="0"/>
                </a:lnTo>
                <a:lnTo>
                  <a:pt x="5679528" y="9383869"/>
                </a:lnTo>
                <a:lnTo>
                  <a:pt x="0" y="9383869"/>
                </a:lnTo>
                <a:lnTo>
                  <a:pt x="0" y="0"/>
                </a:lnTo>
                <a:close/>
              </a:path>
            </a:pathLst>
          </a:custGeom>
          <a:blipFill>
            <a:blip r:embed="rId3"/>
            <a:stretch>
              <a:fillRect t="-2256" r="-14615" b="-2256"/>
            </a:stretch>
          </a:blipFill>
        </p:spPr>
        <p:txBody>
          <a:bodyPr/>
          <a:p>
            <a:endParaRPr lang="en-US"/>
          </a:p>
        </p:txBody>
      </p:sp>
      <p:sp>
        <p:nvSpPr>
          <p:cNvPr id="5" name="TextBox 5"/>
          <p:cNvSpPr txBox="1"/>
          <p:nvPr/>
        </p:nvSpPr>
        <p:spPr>
          <a:xfrm>
            <a:off x="2577465" y="184150"/>
            <a:ext cx="13505815" cy="1629410"/>
          </a:xfrm>
          <a:prstGeom prst="rect">
            <a:avLst/>
          </a:prstGeom>
        </p:spPr>
        <p:txBody>
          <a:bodyPr lIns="0" tIns="0" rIns="0" bIns="0" rtlCol="0" anchor="t">
            <a:noAutofit/>
          </a:bodyPr>
          <a:lstStyle/>
          <a:p>
            <a:pPr algn="ctr">
              <a:lnSpc>
                <a:spcPts val="11865"/>
              </a:lnSpc>
              <a:spcBef>
                <a:spcPct val="0"/>
              </a:spcBef>
            </a:pPr>
            <a:r>
              <a:rPr lang="en-US" sz="8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ACTIVIT</a:t>
            </a:r>
            <a:r>
              <a:rPr lang="en-US" sz="8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Y DIAGRAM</a:t>
            </a:r>
            <a:endParaRPr lang="en-US" sz="8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6" name="Freeform 2"/>
          <p:cNvSpPr/>
          <p:nvPr/>
        </p:nvSpPr>
        <p:spPr>
          <a:xfrm rot="15240000">
            <a:off x="15578455" y="6771640"/>
            <a:ext cx="3212465" cy="5027295"/>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3512185" y="57785"/>
            <a:ext cx="11262995" cy="1268730"/>
          </a:xfrm>
          <a:prstGeom prst="rect">
            <a:avLst/>
          </a:prstGeom>
        </p:spPr>
        <p:txBody>
          <a:bodyPr lIns="0" tIns="0" rIns="0" bIns="0" rtlCol="0" anchor="t">
            <a:noAutofit/>
          </a:bodyPr>
          <a:lstStyle/>
          <a:p>
            <a:pPr algn="ctr">
              <a:lnSpc>
                <a:spcPts val="10185"/>
              </a:lnSpc>
              <a:spcBef>
                <a:spcPct val="0"/>
              </a:spcBef>
            </a:pPr>
            <a:r>
              <a:rPr lang="en-US" sz="7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STATECHART DIAGRAM </a:t>
            </a:r>
            <a:endParaRPr lang="en-US" sz="7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3" name="Freeform 3"/>
          <p:cNvSpPr/>
          <p:nvPr/>
        </p:nvSpPr>
        <p:spPr>
          <a:xfrm rot="5400000">
            <a:off x="-645160" y="-1221740"/>
            <a:ext cx="3347085" cy="4953000"/>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15656560" y="7317105"/>
            <a:ext cx="3989705" cy="5128260"/>
          </a:xfrm>
          <a:custGeom>
            <a:avLst/>
            <a:gdLst/>
            <a:ahLst/>
            <a:cxnLst/>
            <a:rect l="l" t="t" r="r" b="b"/>
            <a:pathLst>
              <a:path w="4840370" h="6758253">
                <a:moveTo>
                  <a:pt x="0" y="0"/>
                </a:moveTo>
                <a:lnTo>
                  <a:pt x="4840371" y="0"/>
                </a:lnTo>
                <a:lnTo>
                  <a:pt x="4840371"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3841750" y="1579245"/>
            <a:ext cx="10993755" cy="8746490"/>
          </a:xfrm>
          <a:custGeom>
            <a:avLst/>
            <a:gdLst/>
            <a:ahLst/>
            <a:cxnLst/>
            <a:rect l="l" t="t" r="r" b="b"/>
            <a:pathLst>
              <a:path w="5912134" h="8746209">
                <a:moveTo>
                  <a:pt x="0" y="0"/>
                </a:moveTo>
                <a:lnTo>
                  <a:pt x="5912134" y="0"/>
                </a:lnTo>
                <a:lnTo>
                  <a:pt x="5912134" y="8746209"/>
                </a:lnTo>
                <a:lnTo>
                  <a:pt x="0" y="8746209"/>
                </a:lnTo>
                <a:lnTo>
                  <a:pt x="0" y="0"/>
                </a:lnTo>
                <a:close/>
              </a:path>
            </a:pathLst>
          </a:custGeom>
          <a:blipFill>
            <a:blip r:embed="rId3"/>
            <a:stretch>
              <a:fillRect l="-188" t="-893" r="-188"/>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647065" y="-1143635"/>
            <a:ext cx="3135630" cy="4279900"/>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878205" y="1431925"/>
            <a:ext cx="16913225" cy="8238490"/>
          </a:xfrm>
          <a:custGeom>
            <a:avLst/>
            <a:gdLst/>
            <a:ahLst/>
            <a:cxnLst/>
            <a:rect l="l" t="t" r="r" b="b"/>
            <a:pathLst>
              <a:path w="14931909" h="8641912">
                <a:moveTo>
                  <a:pt x="0" y="0"/>
                </a:moveTo>
                <a:lnTo>
                  <a:pt x="14931908" y="0"/>
                </a:lnTo>
                <a:lnTo>
                  <a:pt x="14931908" y="8641912"/>
                </a:lnTo>
                <a:lnTo>
                  <a:pt x="0" y="8641912"/>
                </a:lnTo>
                <a:lnTo>
                  <a:pt x="0" y="0"/>
                </a:lnTo>
                <a:close/>
              </a:path>
            </a:pathLst>
          </a:custGeom>
          <a:blipFill>
            <a:blip r:embed="rId3"/>
            <a:stretch>
              <a:fillRect l="-854" t="-17" b="-400"/>
            </a:stretch>
          </a:blipFill>
        </p:spPr>
      </p:sp>
      <p:sp>
        <p:nvSpPr>
          <p:cNvPr id="5" name="TextBox 5"/>
          <p:cNvSpPr txBox="1"/>
          <p:nvPr/>
        </p:nvSpPr>
        <p:spPr>
          <a:xfrm>
            <a:off x="3606165" y="-24130"/>
            <a:ext cx="10975975" cy="1076325"/>
          </a:xfrm>
          <a:prstGeom prst="rect">
            <a:avLst/>
          </a:prstGeom>
        </p:spPr>
        <p:txBody>
          <a:bodyPr wrap="square" lIns="0" tIns="0" rIns="0" bIns="0" rtlCol="0" anchor="t">
            <a:noAutofit/>
          </a:bodyPr>
          <a:lstStyle/>
          <a:p>
            <a:pPr algn="ctr">
              <a:lnSpc>
                <a:spcPts val="10185"/>
              </a:lnSpc>
              <a:spcBef>
                <a:spcPct val="0"/>
              </a:spcBef>
            </a:pPr>
            <a:r>
              <a:rPr lang="en-US" sz="7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SEQUENCE DIAGRAM</a:t>
            </a:r>
            <a:endParaRPr lang="en-US" sz="7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626110" y="-1469390"/>
            <a:ext cx="3519170" cy="5163185"/>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15645130" y="7176135"/>
            <a:ext cx="4036060" cy="5608955"/>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630555" y="1940560"/>
            <a:ext cx="16904970" cy="6826885"/>
          </a:xfrm>
          <a:custGeom>
            <a:avLst/>
            <a:gdLst/>
            <a:ahLst/>
            <a:cxnLst/>
            <a:rect l="l" t="t" r="r" b="b"/>
            <a:pathLst>
              <a:path w="15756972" h="6826595">
                <a:moveTo>
                  <a:pt x="0" y="0"/>
                </a:moveTo>
                <a:lnTo>
                  <a:pt x="15756972" y="0"/>
                </a:lnTo>
                <a:lnTo>
                  <a:pt x="15756972" y="6826595"/>
                </a:lnTo>
                <a:lnTo>
                  <a:pt x="0" y="6826595"/>
                </a:lnTo>
                <a:lnTo>
                  <a:pt x="0" y="0"/>
                </a:lnTo>
                <a:close/>
              </a:path>
            </a:pathLst>
          </a:custGeom>
          <a:blipFill>
            <a:blip r:embed="rId3"/>
            <a:stretch>
              <a:fillRect l="-655" t="-1430" r="-655"/>
            </a:stretch>
          </a:blipFill>
        </p:spPr>
      </p:sp>
      <p:sp>
        <p:nvSpPr>
          <p:cNvPr id="5" name="TextBox 5"/>
          <p:cNvSpPr txBox="1"/>
          <p:nvPr/>
        </p:nvSpPr>
        <p:spPr>
          <a:xfrm>
            <a:off x="4406900" y="254635"/>
            <a:ext cx="9750425" cy="1463675"/>
          </a:xfrm>
          <a:prstGeom prst="rect">
            <a:avLst/>
          </a:prstGeom>
        </p:spPr>
        <p:txBody>
          <a:bodyPr lIns="0" tIns="0" rIns="0" bIns="0" rtlCol="0" anchor="t">
            <a:noAutofit/>
          </a:bodyPr>
          <a:lstStyle/>
          <a:p>
            <a:pPr algn="ctr">
              <a:lnSpc>
                <a:spcPts val="10745"/>
              </a:lnSpc>
              <a:spcBef>
                <a:spcPct val="0"/>
              </a:spcBef>
            </a:pPr>
            <a:r>
              <a:rPr lang="en-US" sz="7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CLASS DIAGRAM</a:t>
            </a:r>
            <a:endParaRPr lang="en-US" sz="7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4860000">
            <a:off x="-704215" y="-1769745"/>
            <a:ext cx="3020695" cy="5473700"/>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690245" y="114300"/>
            <a:ext cx="17320895" cy="1317625"/>
          </a:xfrm>
          <a:prstGeom prst="rect">
            <a:avLst/>
          </a:prstGeom>
        </p:spPr>
        <p:txBody>
          <a:bodyPr lIns="0" tIns="0" rIns="0" bIns="0" rtlCol="0" anchor="t">
            <a:noAutofit/>
          </a:bodyPr>
          <a:lstStyle/>
          <a:p>
            <a:pPr algn="ctr">
              <a:lnSpc>
                <a:spcPts val="8505"/>
              </a:lnSpc>
              <a:spcBef>
                <a:spcPct val="0"/>
              </a:spcBef>
            </a:pPr>
            <a:r>
              <a:rPr lang="en-US" sz="6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REQUIREMENT SPECIFICATION</a:t>
            </a:r>
            <a:endParaRPr lang="en-US" sz="6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 name="TextBox 4"/>
          <p:cNvSpPr txBox="1"/>
          <p:nvPr/>
        </p:nvSpPr>
        <p:spPr>
          <a:xfrm>
            <a:off x="276225" y="1209040"/>
            <a:ext cx="17734915" cy="8620125"/>
          </a:xfrm>
          <a:prstGeom prst="rect">
            <a:avLst/>
          </a:prstGeom>
        </p:spPr>
        <p:txBody>
          <a:bodyPr lIns="0" tIns="0" rIns="0" bIns="0" rtlCol="0" anchor="t">
            <a:noAutofit/>
          </a:bodyPr>
          <a:lstStyle/>
          <a:p>
            <a:pPr algn="just">
              <a:lnSpc>
                <a:spcPts val="3465"/>
              </a:lnSpc>
              <a:spcBef>
                <a:spcPct val="0"/>
              </a:spcBef>
            </a:pPr>
            <a:r>
              <a:rPr lang="en-US" sz="2475" b="1">
                <a:solidFill>
                  <a:srgbClr val="000000"/>
                </a:solidFill>
                <a:latin typeface="Times New Roman" panose="02020603050405020304"/>
                <a:ea typeface="Times New Roman" panose="02020603050405020304"/>
                <a:cs typeface="Times New Roman" panose="02020603050405020304"/>
                <a:sym typeface="Times New Roman" panose="02020603050405020304"/>
              </a:rPr>
              <a:t>Functional Requirements:</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 Define the core operations and functionalities of the system. They describe how the system processes input, performs analysis, and provides output to the user. In this project, the system is designed to detect fake job postings using Machine Learning techniques and provide accurate results through a user-friendly interface.</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465"/>
              </a:lnSpc>
              <a:spcBef>
                <a:spcPct val="0"/>
              </a:spcBef>
            </a:pP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following are the Functional Requirements of our system:</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534670" lvl="1" indent="-267335" algn="just">
              <a:lnSpc>
                <a:spcPts val="3465"/>
              </a:lnSpc>
              <a:buAutoNum type="arabicPeriod"/>
            </a:pPr>
            <a:r>
              <a:rPr lang="en-US" sz="2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should accept job post input: </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must allow users to enter job details manually (job title/description) or provide a job URL (link).</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534670" lvl="1" indent="-267335" algn="just">
              <a:lnSpc>
                <a:spcPts val="3465"/>
              </a:lnSpc>
              <a:buAutoNum type="arabicPeriod"/>
            </a:pPr>
            <a:r>
              <a:rPr lang="en-US" sz="2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should extract and process URL data: </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If a link is provided, the system should extract content from the webpage using web scraping techniques.</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534670" lvl="1" indent="-267335" algn="just">
              <a:lnSpc>
                <a:spcPts val="3465"/>
              </a:lnSpc>
              <a:buAutoNum type="arabicPeriod"/>
            </a:pPr>
            <a:r>
              <a:rPr lang="en-US" sz="2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should preprocess text data: </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clean the input data by removing special characters, stopwords, and perform tokenization.</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534670" lvl="1" indent="-267335" algn="just">
              <a:lnSpc>
                <a:spcPts val="3465"/>
              </a:lnSpc>
              <a:buAutoNum type="arabicPeriod"/>
            </a:pPr>
            <a:r>
              <a:rPr lang="en-US" sz="2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should perform feature extraction: </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convert text into numerical format using techniques like TF-IDF.</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534670" lvl="1" indent="-267335" algn="just">
              <a:lnSpc>
                <a:spcPts val="3465"/>
              </a:lnSpc>
              <a:buAutoNum type="arabicPeriod"/>
            </a:pPr>
            <a:r>
              <a:rPr lang="en-US" sz="2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should classify job as Fake or Real: </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use trained Machine Learning models (e.g., Random Forest) to classify the job posting.</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534670" lvl="1" indent="-267335" algn="just">
              <a:lnSpc>
                <a:spcPts val="3465"/>
              </a:lnSpc>
              <a:buAutoNum type="arabicPeriod"/>
            </a:pPr>
            <a:r>
              <a:rPr lang="en-US" sz="2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should display prediction result: </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show whether the job is Real or Fake along with appropriate messages/alerts.</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534670" lvl="1" indent="-267335" algn="just">
              <a:lnSpc>
                <a:spcPts val="3465"/>
              </a:lnSpc>
              <a:buAutoNum type="arabicPeriod"/>
            </a:pPr>
            <a:r>
              <a:rPr lang="en-US" sz="2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should provide user-friendly interface: </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be implemented using Streamlit for easy interaction and accessibility.</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534670" lvl="1" indent="-267335" algn="just">
              <a:lnSpc>
                <a:spcPts val="3465"/>
              </a:lnSpc>
              <a:buAutoNum type="arabicPeriod"/>
            </a:pPr>
            <a:r>
              <a:rPr lang="en-US" sz="2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System should handle errors and invalid inputs: </a:t>
            </a:r>
            <a:r>
              <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manage incorrect or empty inputs and display proper error messages.</a:t>
            </a:r>
            <a:endParaRPr lang="en-US" sz="2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779145" y="-83185"/>
            <a:ext cx="16943705" cy="1087120"/>
          </a:xfrm>
          <a:prstGeom prst="rect">
            <a:avLst/>
          </a:prstGeom>
        </p:spPr>
        <p:txBody>
          <a:bodyPr lIns="0" tIns="0" rIns="0" bIns="0" rtlCol="0" anchor="t">
            <a:noAutofit/>
          </a:bodyPr>
          <a:lstStyle/>
          <a:p>
            <a:pPr algn="ctr">
              <a:lnSpc>
                <a:spcPts val="9065"/>
              </a:lnSpc>
              <a:spcBef>
                <a:spcPct val="0"/>
              </a:spcBef>
            </a:pPr>
            <a:r>
              <a:rPr lang="en-US" sz="6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NON-FUNCTIONAL REQUIREMENTS</a:t>
            </a:r>
            <a:endParaRPr lang="en-US" sz="6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3" name="Freeform 3"/>
          <p:cNvSpPr/>
          <p:nvPr/>
        </p:nvSpPr>
        <p:spPr>
          <a:xfrm rot="4800000">
            <a:off x="-636905" y="-1637665"/>
            <a:ext cx="2597150" cy="4754245"/>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760000">
            <a:off x="15918180" y="7458710"/>
            <a:ext cx="3884930" cy="5781675"/>
          </a:xfrm>
          <a:custGeom>
            <a:avLst/>
            <a:gdLst/>
            <a:ahLst/>
            <a:cxnLst/>
            <a:rect l="l" t="t" r="r" b="b"/>
            <a:pathLst>
              <a:path w="4840370" h="6758253">
                <a:moveTo>
                  <a:pt x="0" y="0"/>
                </a:moveTo>
                <a:lnTo>
                  <a:pt x="4840371" y="0"/>
                </a:lnTo>
                <a:lnTo>
                  <a:pt x="4840371"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28905" y="1076960"/>
            <a:ext cx="18030825" cy="9023985"/>
          </a:xfrm>
          <a:prstGeom prst="rect">
            <a:avLst/>
          </a:prstGeom>
        </p:spPr>
        <p:txBody>
          <a:bodyPr lIns="0" tIns="0" rIns="0" bIns="0" rtlCol="0" anchor="t">
            <a:noAutofit/>
          </a:bodyPr>
          <a:lstStyle/>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Performance:</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 The system should provide quick and accurate predictions with minimal response time. It should efficiently process both text input and URL-based input.</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Usability: </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have a simple and user-friendly interface using Streamlit. Users should be able to easily input job descriptions or links without technical knowledge.</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Accuracy:</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 The system should achieve high prediction accuracy using Machine Learning algorithms. It should minimize false positives and false negatives.</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Scalability: </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be able to handle increasing amounts of data and users in the future. It should support adding more datasets and advanced models.</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Reliability: </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consistently provide correct results without failure. It should work properly under different inputs and conditions.</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Maintainability:</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 The system should be easy to update, debug, and improve. Code should be modular and well-structured.</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Portability:</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 The system should run on different platforms (Windows, web browser). It should be easily deployable.</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Security: </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should ensure safe handling of user input data. It should prevent misuse or malicious inputs.</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AutoNum type="arabicPeriod"/>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Availability:</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 The system should be accessible anytime through the web interface. It should have minimal downtime.</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3079896" y="35719"/>
            <a:ext cx="12508959" cy="1091114"/>
          </a:xfrm>
          <a:prstGeom prst="rect">
            <a:avLst/>
          </a:prstGeom>
        </p:spPr>
        <p:txBody>
          <a:bodyPr lIns="0" tIns="0" rIns="0" bIns="0" rtlCol="0" anchor="t">
            <a:spAutoFit/>
          </a:bodyPr>
          <a:lstStyle/>
          <a:p>
            <a:pPr algn="ctr">
              <a:lnSpc>
                <a:spcPts val="8635"/>
              </a:lnSpc>
              <a:spcBef>
                <a:spcPct val="0"/>
              </a:spcBef>
            </a:pPr>
            <a:r>
              <a:rPr lang="en-US" sz="616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SYSTEM </a:t>
            </a:r>
            <a:r>
              <a:rPr lang="en-US" sz="616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IMPLEMENTATION</a:t>
            </a:r>
            <a:endParaRPr lang="en-US" sz="616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3" name="Freeform 3"/>
          <p:cNvSpPr/>
          <p:nvPr/>
        </p:nvSpPr>
        <p:spPr>
          <a:xfrm rot="5400000">
            <a:off x="-925830" y="-1398270"/>
            <a:ext cx="3221990" cy="457073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16200000">
            <a:off x="15730220" y="7091045"/>
            <a:ext cx="2633345" cy="4224020"/>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457366" y="952500"/>
            <a:ext cx="17396116" cy="8906470"/>
          </a:xfrm>
          <a:prstGeom prst="rect">
            <a:avLst/>
          </a:prstGeom>
        </p:spPr>
        <p:txBody>
          <a:bodyPr lIns="0" tIns="0" rIns="0" bIns="0" rtlCol="0" anchor="t">
            <a:spAutoFit/>
          </a:bodyPr>
          <a:lstStyle/>
          <a:p>
            <a:pPr algn="just">
              <a:lnSpc>
                <a:spcPts val="4165"/>
              </a:lnSpc>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ALGORITHMS USED:</a:t>
            </a:r>
            <a:endPar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4165"/>
              </a:lnSpc>
              <a:spcBef>
                <a:spcPct val="0"/>
              </a:spcBef>
            </a:pP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In this project, multiple Machine Learning algorithms are used to analyze job postings and classify them as Real or Fake. These algorithms are selected to improve accuracy and compare performance.</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165"/>
              </a:lnSpc>
              <a:spcBef>
                <a:spcPct val="0"/>
              </a:spcBef>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1. Random Forest: </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Random Forest is an ensemble learning algorithm that uses multiple decision trees. It provides high accuracy and better performance compared to other algorithms. It reduces overfitting and handles large datasets efficiently. Used as the final model in the project.</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165"/>
              </a:lnSpc>
              <a:spcBef>
                <a:spcPct val="0"/>
              </a:spcBef>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2. Decision Tree: </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Decision Tree splits data based on conditions to make decisions. It is simple, easy to understand, and fast. Useful for basic classification and understanding data patterns.</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165"/>
              </a:lnSpc>
              <a:spcBef>
                <a:spcPct val="0"/>
              </a:spcBef>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3. Logistic Regression: </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Logistic Regression is used for binary classification (Real/Fake). It predicts probability and gives quick results. Useful for fast and baseline prediction.</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165"/>
              </a:lnSpc>
              <a:spcBef>
                <a:spcPct val="0"/>
              </a:spcBef>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4. Naive Bayes: </a:t>
            </a: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Naive Bayes is based on probability and works well for text data. It is efficient for large datasets with textual features. Useful for text classification using </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4165"/>
              </a:lnSpc>
              <a:spcBef>
                <a:spcPct val="0"/>
              </a:spcBef>
            </a:pPr>
            <a:r>
              <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Why These Algorithms are Useful for This Project</a:t>
            </a:r>
            <a:endParaRPr lang="en-US" sz="29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642620" lvl="1" indent="-321310" algn="l">
              <a:lnSpc>
                <a:spcPts val="4165"/>
              </a:lnSpc>
              <a:buFont typeface="Arial" panose="020B0604020202020204"/>
              <a:buChar char="•"/>
            </a:pP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They help in accurate classification of job posts</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Font typeface="Arial" panose="020B0604020202020204"/>
              <a:buChar char="•"/>
            </a:pP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Work well with text data using TF-IDF features</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Font typeface="Arial" panose="020B0604020202020204"/>
              <a:buChar char="•"/>
            </a:pP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Provide fast and reliable predictions</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42620" lvl="1" indent="-321310" algn="l">
              <a:lnSpc>
                <a:spcPts val="4165"/>
              </a:lnSpc>
              <a:buFont typeface="Arial" panose="020B0604020202020204"/>
              <a:buChar char="•"/>
            </a:pPr>
            <a:r>
              <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rPr>
              <a:t>Allow comparison to choose the best model</a:t>
            </a:r>
            <a:endParaRPr lang="en-US" sz="29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975995" y="-1042670"/>
            <a:ext cx="3037840" cy="3676015"/>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4831715" y="635"/>
            <a:ext cx="8930640" cy="1268730"/>
          </a:xfrm>
          <a:prstGeom prst="rect">
            <a:avLst/>
          </a:prstGeom>
        </p:spPr>
        <p:txBody>
          <a:bodyPr lIns="0" tIns="0" rIns="0" bIns="0" rtlCol="0" anchor="t">
            <a:noAutofit/>
          </a:bodyPr>
          <a:lstStyle/>
          <a:p>
            <a:pPr algn="ctr">
              <a:lnSpc>
                <a:spcPts val="10890"/>
              </a:lnSpc>
              <a:spcBef>
                <a:spcPct val="0"/>
              </a:spcBef>
            </a:pPr>
            <a:r>
              <a:rPr lang="en-US" sz="77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SOURCE CODE</a:t>
            </a:r>
            <a:endParaRPr lang="en-US" sz="77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 name="TextBox 4"/>
          <p:cNvSpPr txBox="1"/>
          <p:nvPr/>
        </p:nvSpPr>
        <p:spPr>
          <a:xfrm>
            <a:off x="219075" y="1269365"/>
            <a:ext cx="8556625" cy="8897620"/>
          </a:xfrm>
          <a:prstGeom prst="rect">
            <a:avLst/>
          </a:prstGeom>
        </p:spPr>
        <p:txBody>
          <a:bodyPr lIns="0" tIns="0" rIns="0" bIns="0" rtlCol="0" anchor="t">
            <a:noAutofit/>
          </a:bodyPr>
          <a:lstStyle/>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 Implementation Steps (Google Colab Code Explanation)</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1.</a:t>
            </a: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0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Installing Required Packages</a:t>
            </a:r>
            <a:endParaRPr lang="en-US" sz="20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!pip install pandas scikit-learn</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This step installs the required Python libraries such as Pandas and Scikit-learn. These</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libraries are essential for data handling, preprocessing, and building machine learning models.</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2. Importing Required Libraries</a:t>
            </a:r>
            <a:endParaRPr lang="en-US" sz="20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import pandas as pd</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from sklearn.feature_extraction.text import TfidfVectorize</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from sklearn.model_selection import train_test_split</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from sklearn.ensemble import RandomForestClassifier</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import pickle</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In this step, necessary libraries are imported:</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Pandas → for handling dataset </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TF-IDF Vectorizer → for text feature extraction </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Train-Test Split → for splitting data </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Random Forest → for classification </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lPickle → for saving trained model </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3.</a:t>
            </a: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0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Uploading Dataset</a:t>
            </a:r>
            <a:endParaRPr lang="en-US" sz="208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 from google.colab import files</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uploaded = files.upload()</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r>
              <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rPr>
              <a:t>This step allows the user to upload the dataset file (CSV format) into Google Colab for processing.</a:t>
            </a:r>
            <a:endParaRPr lang="en-US" sz="208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525"/>
              </a:lnSpc>
              <a:spcBef>
                <a:spcPct val="0"/>
              </a:spcBef>
            </a:pPr>
            <a:r>
              <a:rPr lang="en-US" sz="375">
                <a:solidFill>
                  <a:srgbClr val="000000"/>
                </a:solidFill>
                <a:latin typeface="Times New Roman" panose="02020603050405020304"/>
                <a:ea typeface="Times New Roman" panose="02020603050405020304"/>
                <a:cs typeface="Times New Roman" panose="02020603050405020304"/>
                <a:sym typeface="Times New Roman" panose="02020603050405020304"/>
              </a:rPr>
              <a:t>4. </a:t>
            </a:r>
            <a:endParaRPr lang="en-US" sz="3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910"/>
              </a:lnSpc>
              <a:spcBef>
                <a:spcPct val="0"/>
              </a:spcBef>
            </a:pPr>
          </a:p>
        </p:txBody>
      </p:sp>
      <p:sp>
        <p:nvSpPr>
          <p:cNvPr id="5" name="TextBox 5"/>
          <p:cNvSpPr txBox="1"/>
          <p:nvPr/>
        </p:nvSpPr>
        <p:spPr>
          <a:xfrm>
            <a:off x="9286240" y="1303655"/>
            <a:ext cx="8724900" cy="8687435"/>
          </a:xfrm>
          <a:prstGeom prst="rect">
            <a:avLst/>
          </a:prstGeom>
        </p:spPr>
        <p:txBody>
          <a:bodyPr lIns="0" tIns="0" rIns="0" bIns="0" rtlCol="0" anchor="t">
            <a:noAutofit/>
          </a:bodyPr>
          <a:lstStyle/>
          <a:p>
            <a:pPr algn="l">
              <a:lnSpc>
                <a:spcPts val="3215"/>
              </a:lnSpc>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4.Loading Dataset</a:t>
            </a:r>
            <a:endPar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 data = pd.read_csv("fake_job_postings.csv")</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data.head()</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The dataset is loaded using Pandas. The head() function displays the first few rows to understand the structure of the data.</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5.</a:t>
            </a: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Data Preprocessing</a:t>
            </a:r>
            <a:endPar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data['text'] = data['title'].fillna('') + " "data['description'].fillna('')</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In this step:</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l Missing values are handled using fillna() </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l Job title and description are combined into a single text column </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This improves model understanding of job content.</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6. Feature Selection</a:t>
            </a:r>
            <a:endPar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X = data['text']</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y = data['fraudulent'] # 0 = Real, 1 = Fake</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X (Input) → Job text data </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y (Output) → Labels (Real or Fake job) </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7. Feature Extraction using TF-IDF</a:t>
            </a:r>
            <a:endParaRPr lang="en-US" sz="23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vectorizer = TfidfVectorizer(stop_words='english')</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215"/>
              </a:lnSpc>
            </a:pPr>
            <a:r>
              <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rPr>
              <a:t>X_vectorized = vectorizer.fit_transform(X)</a:t>
            </a:r>
            <a:endParaRPr lang="en-US" sz="23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3360"/>
              </a:lnSpc>
              <a:spcBef>
                <a:spcPct val="0"/>
              </a:spcBef>
            </a:pPr>
            <a:r>
              <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rPr>
              <a:t>TF-IDF converts text into numerical vectors so that machine learning models can process the data effectively.</a:t>
            </a:r>
            <a:endParaRPr lang="en-US" sz="2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AutoShape 6"/>
          <p:cNvSpPr/>
          <p:nvPr/>
        </p:nvSpPr>
        <p:spPr>
          <a:xfrm>
            <a:off x="9144000" y="1343859"/>
            <a:ext cx="0" cy="8638671"/>
          </a:xfrm>
          <a:prstGeom prst="line">
            <a:avLst/>
          </a:prstGeom>
          <a:ln w="38100" cap="flat">
            <a:solidFill>
              <a:srgbClr val="000000"/>
            </a:solidFill>
            <a:prstDash val="solid"/>
            <a:headEnd type="none" w="sm" len="sm"/>
            <a:tailEnd type="none" w="sm" len="sm"/>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AutoShape 2"/>
          <p:cNvSpPr/>
          <p:nvPr/>
        </p:nvSpPr>
        <p:spPr>
          <a:xfrm>
            <a:off x="10553700" y="75839"/>
            <a:ext cx="0" cy="10180250"/>
          </a:xfrm>
          <a:prstGeom prst="line">
            <a:avLst/>
          </a:prstGeom>
          <a:ln w="38100" cap="flat">
            <a:solidFill>
              <a:srgbClr val="000000"/>
            </a:solidFill>
            <a:prstDash val="solid"/>
            <a:headEnd type="none" w="sm" len="sm"/>
            <a:tailEnd type="none" w="sm" len="sm"/>
          </a:ln>
        </p:spPr>
      </p:sp>
      <p:sp>
        <p:nvSpPr>
          <p:cNvPr id="3" name="TextBox 3"/>
          <p:cNvSpPr txBox="1"/>
          <p:nvPr/>
        </p:nvSpPr>
        <p:spPr>
          <a:xfrm>
            <a:off x="183669" y="49600"/>
            <a:ext cx="9924532" cy="9758610"/>
          </a:xfrm>
          <a:prstGeom prst="rect">
            <a:avLst/>
          </a:prstGeom>
        </p:spPr>
        <p:txBody>
          <a:bodyPr lIns="0" tIns="0" rIns="0" bIns="0" rtlCol="0" anchor="t">
            <a:spAutoFit/>
          </a:bodyPr>
          <a:lstStyle/>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8. Training Multiple Machine Learning Models</a:t>
            </a:r>
            <a:endParaRPr lang="en-US" sz="1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from sklearn.ensemble import RandomForestClassifier</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from sklearn.linear_model import LogisticRegression</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from sklearn.tree import DecisionTreeClassifier</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from sklearn.naive_bayes import MultinomialNB</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rf = RandomForestClassifier()</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lr = LogisticRegression()</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dt = DecisionTreeClassifier()</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nb = MultinomialNB()</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rf.fit(X_vectorized, y)</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lr.fit(X_vectorized, y)</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dt.fit(X_vectorized, y)</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nb.fit(X_vectorized, y)</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Different machine learning algorithms such as Random Forest, Logistic Regression, Decision Tree, and Naive Bayes are trained on the dataset. This helps in comparing their performance and selecting the best model.</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9. Model Evaluation and Comparison</a:t>
            </a:r>
            <a:endParaRPr lang="en-US" sz="1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from sklearn.metrics import accuracy_score</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print("Random Forest:", accuracy_score(y, rf.predict(X_vectorized)))</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print("Logistic Regression:", accuracy_score(y, lr.predict(X_vectorized)))</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print("Decision Tree:", accuracy_score(y, dt.predict(X_vectorized)))</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print("Naive Bayes:", accuracy_score(y, nb.predict(X_vectorized)))</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The trained models are evaluated using accuracy score to determine which model performs best on the dataset. This step is important for selecting the most suitable algorithm.</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10. Model Saving (Pickle Files)</a:t>
            </a:r>
            <a:endParaRPr lang="en-US" sz="1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pickle.dump(model, open("model.pkl", "wb"))</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pickle.dump(vectorizer, open("vectorizer.pkl", "wb"))</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The trained model and vectorizer are saved as .pkl files. These files are later used for prediction without retraining.</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11. Downloading Model Files</a:t>
            </a:r>
            <a:endParaRPr lang="en-US" sz="16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from google.colab import files</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files.download("model.pkl")</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files.download("vectorizer.pkl")</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pPr>
            <a:r>
              <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rPr>
              <a:t> This step downloads the trained model and vectorizer to your system for further in application.</a:t>
            </a:r>
            <a:endParaRPr lang="en-US" sz="16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2350"/>
              </a:lnSpc>
              <a:spcBef>
                <a:spcPct val="0"/>
              </a:spcBef>
            </a:pPr>
          </a:p>
        </p:txBody>
      </p:sp>
      <p:sp>
        <p:nvSpPr>
          <p:cNvPr id="4" name="TextBox 4"/>
          <p:cNvSpPr txBox="1"/>
          <p:nvPr/>
        </p:nvSpPr>
        <p:spPr>
          <a:xfrm>
            <a:off x="12504763" y="-47625"/>
            <a:ext cx="5783237" cy="10303713"/>
          </a:xfrm>
          <a:prstGeom prst="rect">
            <a:avLst/>
          </a:prstGeom>
        </p:spPr>
        <p:txBody>
          <a:bodyPr lIns="0" tIns="0" rIns="0" bIns="0" rtlCol="0" anchor="t">
            <a:spAutoFit/>
          </a:bodyPr>
          <a:lstStyle/>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STEAMLIT APPLICATION CODE: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import streamlit as st</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import pandas as pd</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import pickle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import requests</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845"/>
              </a:lnSpc>
            </a:pPr>
            <a:r>
              <a:rPr lang="en-US" sz="13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from bs4 import BeautifulSoup</a:t>
            </a:r>
            <a:endParaRPr lang="en-US" sz="13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import matplotlib.pyplot as plt</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import seaborn as sns</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import re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from urllib.parse import urlparse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from sklearn.metrics import accuracy_score, confusion_matrix</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from sklearn.metrics import precision_score, recall_score, f1_score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PAGE CONFIG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st.set_page_config(</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page_title="Supervised ML Approach To Fake Job Detection",</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page_icon="��️",</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layout="wide"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STYLE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st.markdown("""</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&lt;style&gt;</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.main-title{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text-align:center;</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font-size:45px;</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font-weight:bold;</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color:#0E6BA8;</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.sub-title{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text-align:center;</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font-size:20px;</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color:gray;</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margin-bottom:30px;</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&lt;/style&gt;</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unsafe_allow_html=True)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LOAD MODEL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model = pickle.load(open("model.pkl", "rb"))</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vectorizer = pickle.load(open("vectorizer.pkl", "rb"))</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SMART FRAUD ANALYSIS (Enhanced)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def advanced_analysis(text, link=None):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import re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from urllib.parse import urlparse</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pPr>
            <a:r>
              <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reasons = []</a:t>
            </a:r>
            <a:endParaRPr lang="en-US" sz="121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just">
              <a:lnSpc>
                <a:spcPts val="1705"/>
              </a:lnSpc>
              <a:spcBef>
                <a:spcPct val="0"/>
              </a:spcBef>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AutoShape 2"/>
          <p:cNvSpPr/>
          <p:nvPr/>
        </p:nvSpPr>
        <p:spPr>
          <a:xfrm>
            <a:off x="6838950" y="106750"/>
            <a:ext cx="0" cy="10180250"/>
          </a:xfrm>
          <a:prstGeom prst="line">
            <a:avLst/>
          </a:prstGeom>
          <a:ln w="38100" cap="flat">
            <a:solidFill>
              <a:srgbClr val="000000"/>
            </a:solidFill>
            <a:prstDash val="solid"/>
            <a:headEnd type="none" w="sm" len="sm"/>
            <a:tailEnd type="none" w="sm" len="sm"/>
          </a:ln>
        </p:spPr>
      </p:sp>
      <p:sp>
        <p:nvSpPr>
          <p:cNvPr id="3" name="TextBox 3"/>
          <p:cNvSpPr txBox="1"/>
          <p:nvPr/>
        </p:nvSpPr>
        <p:spPr>
          <a:xfrm>
            <a:off x="0" y="68650"/>
            <a:ext cx="7115977" cy="9864259"/>
          </a:xfrm>
          <a:prstGeom prst="rect">
            <a:avLst/>
          </a:prstGeom>
        </p:spPr>
        <p:txBody>
          <a:bodyPr lIns="0" tIns="0" rIns="0" bIns="0" rtlCol="0" anchor="t">
            <a:spAutoFit/>
          </a:bodyPr>
          <a:lstStyle/>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score = 0</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lower_text = text.lower()</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Suspicious NLP Patterns (Scam Phrases) --------</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patterns = [</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r"(earn|income|salary).*(fast|quick|easy|daily|instant)",</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r"(no experience|no interview|anyone can apply)",</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r"(whatsapp|telegram|discord|signal)",</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r"(pay|fee|deposit|charge|registration|transfer)",</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r"(work from home|remote).*(easy|simple|flexible|urgent)",</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r"(urgent hiring|apply now|limited seats|hurry)",</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r"(guaranteed|100%|sure job|instant payout)",</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r"(financial freedom|make money|rich|millionaire)",</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r"(click here|join now|sign up|exclusive offer)"</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for p in patterns:</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re.search(p, lower_text):</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score += 10</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reasons.append("Suspicious writing pattern detected")</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Text Quality Checks --------</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len(text.split()) &lt; 30:</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score += 15</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reasons.append("Very short description")</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text.count("!") &gt; 3:</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score += 5</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reasons.append("Too many exclamation marks")</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sum(1 for w in text.split() if w.isupper() and len(w) &gt; 2) &gt; 5:</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score += 5</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reasons.append("Excessive capitalization (ALL CAPS)")</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Company Info / Generic Check --------</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generic_terms = ["company", "organization", "employer", "work from home", "apply now"]</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any(term in lower_text for term in generic_terms):</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score += 5</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reasons.append("Generic company description")</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Link / Domain Check --------</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link:</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domain = urlparse(link).netloc.lower()</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bad_domains = [</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"youtube", "youtu.be",</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"telegram", "whatsapp",</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"bit.ly", "tinyurl", "t.me",</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"facebook", "instagram", "linkedin.com/groups"</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for d in bad_domains:</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75"/>
              </a:lnSpc>
              <a:spcBef>
                <a:spcPct val="0"/>
              </a:spcBef>
            </a:pPr>
            <a:r>
              <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d in domain:</a:t>
            </a:r>
            <a:endParaRPr lang="en-US" sz="127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 name="TextBox 4"/>
          <p:cNvSpPr txBox="1"/>
          <p:nvPr/>
        </p:nvSpPr>
        <p:spPr>
          <a:xfrm>
            <a:off x="6838950" y="59125"/>
            <a:ext cx="11449050" cy="10249735"/>
          </a:xfrm>
          <a:prstGeom prst="rect">
            <a:avLst/>
          </a:prstGeom>
        </p:spPr>
        <p:txBody>
          <a:bodyPr lIns="0" tIns="0" rIns="0" bIns="0" rtlCol="0" anchor="t">
            <a:spAutoFit/>
          </a:bodyPr>
          <a:lstStyle/>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sc</a:t>
            </a: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ore += 30</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reasons.append(f"Untrusted platform/domain ({domain})")</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Suspicious Word Count Check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suspicious_words =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"earn money", "instant cash", "free gift", "work from home", "no experience","guaranteed", "100% job", "financial freedom", "make millions", "apply now","limited seats", "exclusive offer", "urgent hiring", "click here", "registration fee","work online using whatsapp", "work online using youtube", "become rich", "fast money", "get paid daily", "easy income","make money fast","passive income", "financially free", "high income", "limited time offer","join now", "sign up today", "earn from home", "pay upfront", "referral bonus","send your bank details", "get rich quick", "instant payout", "work anywhere", "quick registration", "100% earning", "online job no experience", "weekly payout","daily payment", "earn per click", "earn online", "online income", "work from anywhere","zero investment", "minimal effort", "no interview required", "urgent recruitment","exclusive membership", "limited slots", "top paying job", "high paying work"</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found_words = [word for word in suspicious_words if word in lower_text]</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found_words:</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score += len(found_words) * 3  # Each suspicious word adds 3 points</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reasons.append(f"Suspicious keywords found: {', '.join(found_words)}")</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return score, list(set(reasons))</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TITLE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st.markdown('&lt;div class="main-title"&gt;��️ Fake Job Detection System&lt;/div&gt;', unsafe_allow_html=True)</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st.markdown('&lt;div class="sub-title"&gt;Supervised Machine Learning Approach&lt;/div&gt;', unsafe_allow_html=True)</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st.markdown("---")</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TABS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tab1, tab2, tab3 = st.tabs([</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Manual Job Check",</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Job Link Check",</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Dataset Evaluation"</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1️⃣ MANUAL JOB DESCRIPTION</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with tab1:</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st.header("Manual Job Description Check")</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2245"/>
              </a:lnSpc>
              <a:spcBef>
                <a:spcPct val="0"/>
              </a:spcBef>
            </a:pPr>
            <a:r>
              <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job_text = st.text_area("Paste Job Description")</a:t>
            </a:r>
            <a:endParaRPr lang="en-US" sz="160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955"/>
              </a:lnSpc>
              <a:spcBef>
                <a:spcPct val="0"/>
              </a:spcBef>
            </a:p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AutoShape 2"/>
          <p:cNvSpPr/>
          <p:nvPr/>
        </p:nvSpPr>
        <p:spPr>
          <a:xfrm>
            <a:off x="8718839" y="114971"/>
            <a:ext cx="0" cy="10180250"/>
          </a:xfrm>
          <a:prstGeom prst="line">
            <a:avLst/>
          </a:prstGeom>
          <a:ln w="38100" cap="flat">
            <a:solidFill>
              <a:srgbClr val="000000"/>
            </a:solidFill>
            <a:prstDash val="solid"/>
            <a:headEnd type="none" w="sm" len="sm"/>
            <a:tailEnd type="none" w="sm" len="sm"/>
          </a:ln>
        </p:spPr>
      </p:sp>
      <p:sp>
        <p:nvSpPr>
          <p:cNvPr id="3" name="TextBox 3"/>
          <p:cNvSpPr txBox="1"/>
          <p:nvPr/>
        </p:nvSpPr>
        <p:spPr>
          <a:xfrm>
            <a:off x="1028700" y="176847"/>
            <a:ext cx="7671089" cy="10179544"/>
          </a:xfrm>
          <a:prstGeom prst="rect">
            <a:avLst/>
          </a:prstGeom>
        </p:spPr>
        <p:txBody>
          <a:bodyPr lIns="0" tIns="0" rIns="0" bIns="0" rtlCol="0" anchor="t">
            <a:spAutoFit/>
          </a:bodyPr>
          <a:lstStyle/>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st.button("Analyze Job"):</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job_text.strip() ==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st.warning("Enter job description")</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else:</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ML Prediction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vec = vectorizer.transform([job_text])</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prob = model.predict_proba(vec)[0]</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real_prob = prob[0] * 100</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fake_prob = prob[1] * 100</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Advanced Analysis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extra_score, _ = advanced_analysis(job_text)</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Suspicious Keyword Detection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suspicious_keywords = ["earn money", "no experience", "work from home", "instant income","registration fee", "limited seats", "financial freedom", "apply now"]</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found = [word for word in suspicious_keywords if word.lower() in job_text.lower()]</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keyword_score = min(len(found) * 5, 20)</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Final Fake / Real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final_fake = min(fake_prob + extra_score + keyword_score, 100)</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final_real = 100 - final_fake</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col1, col2 = st.columns(2)</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final_fake &gt;= 50:</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col1.error(f"❌ Fake Job ({final_fake:.2f}%)")</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st.warning("Recommendation: Do NOT apply for this job.")</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else:</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col1.success(f"✅ Real Job ({final_real:.2f}%)")</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st.info("Recommendation: </a:t>
            </a: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You may consider applying for this job.")</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col2.metric("Real %", f"{final_real:.2f}")</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col2.metric("Fake %", f"{final_fake:.2f}")</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RISK METER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st.subheader("Fraud Risk Meter")</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st.progress(int(final_fake))</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final_fake &lt; 30:</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st.success("Low Risk")</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elif final_fake &lt; 60:</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st.warning("Medium Risk")</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else:</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st.error("High Risk – Do NOT Apply")</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TEXT STATISTICS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st.subheader("Job Description Statistics")</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word_count = len(job_text.split())</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char_count = len(job_text)</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col3, col4 = st.columns(2)</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col3.metric("Total Words", word_count)</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col4.metric("Characters", char_count)</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510"/>
              </a:lnSpc>
              <a:spcBef>
                <a:spcPct val="0"/>
              </a:spcBef>
            </a:pPr>
            <a:r>
              <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0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525"/>
              </a:lnSpc>
              <a:spcBef>
                <a:spcPct val="0"/>
              </a:spcBef>
            </a:pPr>
          </a:p>
        </p:txBody>
      </p:sp>
      <p:sp>
        <p:nvSpPr>
          <p:cNvPr id="4" name="TextBox 4"/>
          <p:cNvSpPr txBox="1"/>
          <p:nvPr/>
        </p:nvSpPr>
        <p:spPr>
          <a:xfrm>
            <a:off x="9265644" y="146262"/>
            <a:ext cx="9022356" cy="10210129"/>
          </a:xfrm>
          <a:prstGeom prst="rect">
            <a:avLst/>
          </a:prstGeom>
        </p:spPr>
        <p:txBody>
          <a:bodyPr lIns="0" tIns="0" rIns="0" bIns="0" rtlCol="0" anchor="t">
            <a:spAutoFit/>
          </a:bodyPr>
          <a:lstStyle/>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SUSPICIOUS KE</a:t>
            </a: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YWORDS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st.subheader("Suspicious Keyword Detection")</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len(found) &gt; 0:</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st.warning("Suspicious Words Found:")</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for w in found:</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st.write("⚠", w)</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else:</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st.success("No suspicious keywords detected")</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st.subheader("Keyword Risk Contribution")</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st.info(f"Extra fraud score from suspicious keywords: {keyword_score}%")</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Model Performance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st.subheader("Model Performance")</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acc = 0.95</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precision = 0.94</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recall = 0.96</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f1 = 0.95</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col3, col4, col5, col6 = st.columns(4)</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col3.metric("Accuracy", f"{acc*100:.2f}%")</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col4.metric("Precision", f"{precision:.2f}")</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col5.metric("Recall", f"{recall:.2f}")</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col6.metric("F1 Score", f"{f1:.2f}")</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2️⃣ JOB LINK ANALYSIS (Simplified with Recommendation)</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with tab2:</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st.header("�� Job Link Analysis")</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job_link = st.text_input("Paste Job Link")</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st.button("Analyze Job Link"):</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job_link.strip() ==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st.warning("Please enter a job link")</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else:</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try:</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headers = {"User-Agent": "Mozilla/5.0"}</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page = requests.get(job_link, headers=headers, timeout=15)</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soup = BeautifulSoup(page.text, "html.parser")</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Extract text from common tags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paragraphs = soup.find_all(["p", "li", "div"])</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job_text = " ".join([p.get_text().strip() for p in paragraphs if len(p.get_text().strip()) &gt; 40])</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job_text = " ".join(job_text.split()) # clean extra spaces</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Check if enough text ----------------</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r>
              <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len(job_text) &lt; 100:</a:t>
            </a:r>
            <a:endParaRPr lang="en-US" sz="1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610"/>
              </a:lnSpc>
              <a:spcBef>
                <a:spcPct val="0"/>
              </a:spcBef>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342900" y="-38100"/>
            <a:ext cx="6413789" cy="10521244"/>
          </a:xfrm>
          <a:prstGeom prst="rect">
            <a:avLst/>
          </a:prstGeom>
        </p:spPr>
        <p:txBody>
          <a:bodyPr lIns="0" tIns="0" rIns="0" bIns="0" rtlCol="0" anchor="t">
            <a:spAutoFit/>
          </a:bodyPr>
          <a:lstStyle/>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st.error("❌ Link is invalid or fake (not en</a:t>
            </a: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ough job content).")</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st.info("Recommendation: Do NOT apply for this link.")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else:</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Preview extracted job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st.subheader("Extracted Job Preview")</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st.write(job_text[:500] +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ML Prediction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vec = vectorizer.transform([job_text])</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pred = model.predict(vec)[0]</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prob = model.predict_proba(vec)[0]</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real_prob = prob[0] * 100</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fake_prob = prob[1] * 100</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Advanced Analysis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Example advanced analysis function</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extra_score, _ = advanced_analysis(job_text, job_link)</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final_fake = min(fake_prob + extra_score, 100)</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final_real = 100 - final_fake</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Display prediction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col1, col2 = st.columns(2)</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final_fake &gt;= 50:</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col1.error(f"❌ Fake Job ({final_fake:.2f}%)")</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st.warning("Recommendation: Do NOT apply for this job.")</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else:</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col1.success(f"✅ Real Job ({final_real:.2f}%)")</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st.info("Recommendation: You may consider applying for this job.")</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col2.metric("Real Probability", f"{final_real:.2f}%")</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col2.metric("Fake Probability", f"{final_fake:.2f}%")</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Confusion Matrix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st.subheader("Confusion Matrix")</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cm = [[1, 0],</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[0, 1]]</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fig, ax = plt.subplots()</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sns.heatmap(cm,</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annot=True,</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fmt="d",</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cmap="Blues",</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xticklabels=["Real", "Fake"],</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yticklabels=["Real", "Fake"])</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ax.set_xlabel("Predicted")</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ax.set_ylabel("Actual")</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st.pyplot(fig)</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Model Performance ----------------------</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st.subheader("Model Performance")</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acc = 0.95</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precision = 0.93</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r>
              <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recall = 0.95</a:t>
            </a:r>
            <a:endParaRPr lang="en-US" sz="1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90"/>
              </a:lnSpc>
              <a:spcBef>
                <a:spcPct val="0"/>
              </a:spcBef>
            </a:pPr>
          </a:p>
        </p:txBody>
      </p:sp>
      <p:sp>
        <p:nvSpPr>
          <p:cNvPr id="3" name="AutoShape 3"/>
          <p:cNvSpPr/>
          <p:nvPr/>
        </p:nvSpPr>
        <p:spPr>
          <a:xfrm>
            <a:off x="5670839" y="0"/>
            <a:ext cx="0" cy="10180250"/>
          </a:xfrm>
          <a:prstGeom prst="line">
            <a:avLst/>
          </a:prstGeom>
          <a:ln w="38100" cap="flat">
            <a:solidFill>
              <a:srgbClr val="000000"/>
            </a:solidFill>
            <a:prstDash val="solid"/>
            <a:headEnd type="none" w="sm" len="sm"/>
            <a:tailEnd type="none" w="sm" len="sm"/>
          </a:ln>
        </p:spPr>
      </p:sp>
      <p:sp>
        <p:nvSpPr>
          <p:cNvPr id="4" name="TextBox 4"/>
          <p:cNvSpPr txBox="1"/>
          <p:nvPr/>
        </p:nvSpPr>
        <p:spPr>
          <a:xfrm>
            <a:off x="6413789" y="28638"/>
            <a:ext cx="4467509" cy="10303059"/>
          </a:xfrm>
          <a:prstGeom prst="rect">
            <a:avLst/>
          </a:prstGeom>
        </p:spPr>
        <p:txBody>
          <a:bodyPr lIns="0" tIns="0" rIns="0" bIns="0" rtlCol="0" anchor="t">
            <a:spAutoFit/>
          </a:bodyPr>
          <a:lstStyle/>
          <a:p>
            <a:pPr algn="l">
              <a:lnSpc>
                <a:spcPts val="1740"/>
              </a:lnSpc>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f1 = 0.94</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col3, col4, col5, col6 = st.columns(4)</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col3.metric("Accuracy", f"{acc*100:.2f}%")</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col4.metric("Precision", f"{precision:.2f}")</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col5.metric("Recall", f"{recall:.2f}")</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col6.metric("F1 Score", f"{f1:.2f}")</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except Exception as e:</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st.error("❌ Invalid or unreachable link (possibly non-job site, e.g., </a:t>
            </a: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YouTube)")</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st.info("Recommendation: Do NOT apply for this link.")</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3️⃣ DATASET EVALUATION</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with tab3:</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st.header("�� Dataset Evaluation")</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if st.checkbox("Show Dataset Results"):</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data=pd.read_csv("fake_job_postings.csv")</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data['text']=data['title'].fillna('')+" "+data['description'].fillna('')</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X=vectorizer.transform(data['text'])</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y=data['fraudulent']</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y_pred=model.predict(X)</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real_count=(y_pred==0).sum()</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fake_count=(y_pred==1).sum()</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st.subheader("Dataset Summary")</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col1,col2,col3=st.columns(3)</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col1.metric("Total Jobs",len(y_pred))</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col2.metric("Real Jobs",real_count)</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col3.metric("Fake Jobs",fake_count)</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MODEL PERFORMANCE --------</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acc = accuracy_score(y, y_pred)</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precision = precision_score(y, y_pred)</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recall = recall_score(y, y_pred)</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r>
              <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f1 = f1_score(y, y_pred)</a:t>
            </a:r>
            <a:endParaRPr lang="en-US" sz="1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740"/>
              </a:lnSpc>
              <a:spcBef>
                <a:spcPct val="0"/>
              </a:spcBef>
            </a:pPr>
          </a:p>
        </p:txBody>
      </p:sp>
      <p:sp>
        <p:nvSpPr>
          <p:cNvPr id="5" name="AutoShape 5"/>
          <p:cNvSpPr/>
          <p:nvPr/>
        </p:nvSpPr>
        <p:spPr>
          <a:xfrm>
            <a:off x="11335795" y="0"/>
            <a:ext cx="0" cy="10331697"/>
          </a:xfrm>
          <a:prstGeom prst="line">
            <a:avLst/>
          </a:prstGeom>
          <a:ln w="38100" cap="flat">
            <a:solidFill>
              <a:srgbClr val="000000"/>
            </a:solidFill>
            <a:prstDash val="solid"/>
            <a:headEnd type="none" w="sm" len="sm"/>
            <a:tailEnd type="none" w="sm" len="sm"/>
          </a:ln>
        </p:spPr>
      </p:sp>
      <p:sp>
        <p:nvSpPr>
          <p:cNvPr id="6" name="TextBox 6"/>
          <p:cNvSpPr txBox="1"/>
          <p:nvPr/>
        </p:nvSpPr>
        <p:spPr>
          <a:xfrm>
            <a:off x="12046094" y="-47625"/>
            <a:ext cx="6895896" cy="9843483"/>
          </a:xfrm>
          <a:prstGeom prst="rect">
            <a:avLst/>
          </a:prstGeom>
        </p:spPr>
        <p:txBody>
          <a:bodyPr lIns="0" tIns="0" rIns="0" bIns="0" rtlCol="0" anchor="t">
            <a:spAutoFit/>
          </a:bodyPr>
          <a:lstStyle/>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st.subheader("Model Perf</a:t>
            </a: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ormance")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c1, c2, c3, c4 = st.columns(4)</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c1.metric("Accuracy", f"{acc*100:.2f}%")</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c2.metric("Precision", f"{precision:.2f}")</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c3.metric("Recall", f"{recall:.2f}")</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c4.metric("F1 Score", f"{f1:.2f}")</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CONFUSION MATRIX --------</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st.subheader("Confusion Matrix")</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cm=confusion_matrix(y,y_pred)</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fig6,ax6=plt.subplots()</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sns.heatmap(cm,</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annot=True,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fmt="d",</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cmap="Blues",</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xticklabels=["Real","Fake"],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yticklabels=["Real","Fake"])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ax6.set_xlabel("Predicted")</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ax6.set_ylabel("Actual")</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st.pyplot(fig6)</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DISTRIBUTION --------</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st.subheader("Prediction Distribution")</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fig7,ax7=plt.subplots()</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ax7.bar(["Real Jobs","Fake Jobs"],[real_count,fake_count])</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ax7.set_ylabel("Count")</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st.pyplot(fig7)</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SCATTER --------</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st.subheader("Job Classification Scatter Plot")</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fig8,ax8=plt.subplots()</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ax8.scatter(range(len(y_pred)),y_pred)</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ax8.set_xlabel("Job Index")</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ax8.set_ylabel("Prediction")</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st.pyplot(fig8)</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 -------- TABLE --------</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st.subheader("Job Prediction Table")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result_df=pd.DataFrame({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"Job Title":data['title'],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"Actual":y,</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"Predicted":y_pred</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result_df["Actual"]=result_df["Actual"].map({0:"Real",1:"Fake"})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r>
              <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result_df["Predicted"]=result_df["Predicted"].map({0:"Real",1:"Fake"})</a:t>
            </a:r>
            <a:endParaRPr lang="en-US" sz="133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1870"/>
              </a:lnSpc>
              <a:spcBef>
                <a:spcPct val="0"/>
              </a:spcBef>
            </a:p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758190" y="-1489710"/>
            <a:ext cx="3493770" cy="5330825"/>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552948">
            <a:off x="15430500" y="6875780"/>
            <a:ext cx="3569335" cy="4253230"/>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a:off x="576405" y="1896669"/>
            <a:ext cx="8567595" cy="5366253"/>
          </a:xfrm>
          <a:custGeom>
            <a:avLst/>
            <a:gdLst/>
            <a:ahLst/>
            <a:cxnLst/>
            <a:rect l="l" t="t" r="r" b="b"/>
            <a:pathLst>
              <a:path w="8567595" h="5366253">
                <a:moveTo>
                  <a:pt x="0" y="0"/>
                </a:moveTo>
                <a:lnTo>
                  <a:pt x="8567595" y="0"/>
                </a:lnTo>
                <a:lnTo>
                  <a:pt x="8567595" y="5366253"/>
                </a:lnTo>
                <a:lnTo>
                  <a:pt x="0" y="5366253"/>
                </a:lnTo>
                <a:lnTo>
                  <a:pt x="0" y="0"/>
                </a:lnTo>
                <a:close/>
              </a:path>
            </a:pathLst>
          </a:custGeom>
          <a:blipFill>
            <a:blip r:embed="rId3"/>
            <a:stretch>
              <a:fillRect l="-5413" t="-22027" r="-27703"/>
            </a:stretch>
          </a:blipFill>
        </p:spPr>
      </p:sp>
      <p:sp>
        <p:nvSpPr>
          <p:cNvPr id="5" name="Freeform 5"/>
          <p:cNvSpPr/>
          <p:nvPr/>
        </p:nvSpPr>
        <p:spPr>
          <a:xfrm>
            <a:off x="9735908" y="1896669"/>
            <a:ext cx="8132992" cy="5366253"/>
          </a:xfrm>
          <a:custGeom>
            <a:avLst/>
            <a:gdLst/>
            <a:ahLst/>
            <a:cxnLst/>
            <a:rect l="l" t="t" r="r" b="b"/>
            <a:pathLst>
              <a:path w="8132992" h="5366253">
                <a:moveTo>
                  <a:pt x="0" y="0"/>
                </a:moveTo>
                <a:lnTo>
                  <a:pt x="8132992" y="0"/>
                </a:lnTo>
                <a:lnTo>
                  <a:pt x="8132992" y="5366253"/>
                </a:lnTo>
                <a:lnTo>
                  <a:pt x="0" y="5366253"/>
                </a:lnTo>
                <a:lnTo>
                  <a:pt x="0" y="0"/>
                </a:lnTo>
                <a:close/>
              </a:path>
            </a:pathLst>
          </a:custGeom>
          <a:blipFill>
            <a:blip r:embed="rId4"/>
            <a:stretch>
              <a:fillRect l="-487" t="-20243" r="-39014"/>
            </a:stretch>
          </a:blipFill>
        </p:spPr>
      </p:sp>
      <p:sp>
        <p:nvSpPr>
          <p:cNvPr id="6" name="TextBox 6"/>
          <p:cNvSpPr txBox="1"/>
          <p:nvPr/>
        </p:nvSpPr>
        <p:spPr>
          <a:xfrm>
            <a:off x="6601460" y="140335"/>
            <a:ext cx="6071235" cy="1235075"/>
          </a:xfrm>
          <a:prstGeom prst="rect">
            <a:avLst/>
          </a:prstGeom>
        </p:spPr>
        <p:txBody>
          <a:bodyPr lIns="0" tIns="0" rIns="0" bIns="0" rtlCol="0" anchor="t">
            <a:noAutofit/>
          </a:bodyPr>
          <a:lstStyle/>
          <a:p>
            <a:pPr algn="ctr">
              <a:lnSpc>
                <a:spcPts val="11870"/>
              </a:lnSpc>
              <a:spcBef>
                <a:spcPct val="0"/>
              </a:spcBef>
            </a:pPr>
            <a:r>
              <a:rPr lang="en-US" sz="8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OUTPUTS</a:t>
            </a:r>
            <a:endParaRPr lang="en-US" sz="8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a:off x="0" y="0"/>
            <a:ext cx="9144000" cy="5113202"/>
          </a:xfrm>
          <a:custGeom>
            <a:avLst/>
            <a:gdLst/>
            <a:ahLst/>
            <a:cxnLst/>
            <a:rect l="l" t="t" r="r" b="b"/>
            <a:pathLst>
              <a:path w="9144000" h="5113202">
                <a:moveTo>
                  <a:pt x="0" y="0"/>
                </a:moveTo>
                <a:lnTo>
                  <a:pt x="9144000" y="0"/>
                </a:lnTo>
                <a:lnTo>
                  <a:pt x="9144000" y="5113202"/>
                </a:lnTo>
                <a:lnTo>
                  <a:pt x="0" y="5113202"/>
                </a:lnTo>
                <a:lnTo>
                  <a:pt x="0" y="0"/>
                </a:lnTo>
                <a:close/>
              </a:path>
            </a:pathLst>
          </a:custGeom>
          <a:blipFill>
            <a:blip r:embed="rId1"/>
            <a:stretch>
              <a:fillRect l="-5691" t="-32957" r="-49043"/>
            </a:stretch>
          </a:blipFill>
        </p:spPr>
      </p:sp>
      <p:sp>
        <p:nvSpPr>
          <p:cNvPr id="3" name="Freeform 3"/>
          <p:cNvSpPr/>
          <p:nvPr/>
        </p:nvSpPr>
        <p:spPr>
          <a:xfrm>
            <a:off x="9530243" y="307836"/>
            <a:ext cx="8087759" cy="4497529"/>
          </a:xfrm>
          <a:custGeom>
            <a:avLst/>
            <a:gdLst/>
            <a:ahLst/>
            <a:cxnLst/>
            <a:rect l="l" t="t" r="r" b="b"/>
            <a:pathLst>
              <a:path w="8087759" h="4497529">
                <a:moveTo>
                  <a:pt x="0" y="0"/>
                </a:moveTo>
                <a:lnTo>
                  <a:pt x="8087759" y="0"/>
                </a:lnTo>
                <a:lnTo>
                  <a:pt x="8087759" y="4497529"/>
                </a:lnTo>
                <a:lnTo>
                  <a:pt x="0" y="4497529"/>
                </a:lnTo>
                <a:lnTo>
                  <a:pt x="0" y="0"/>
                </a:lnTo>
                <a:close/>
              </a:path>
            </a:pathLst>
          </a:custGeom>
          <a:blipFill>
            <a:blip r:embed="rId2"/>
            <a:stretch>
              <a:fillRect l="-2806" r="-40021" b="-22323"/>
            </a:stretch>
          </a:blipFill>
        </p:spPr>
      </p:sp>
      <p:sp>
        <p:nvSpPr>
          <p:cNvPr id="4" name="Freeform 4"/>
          <p:cNvSpPr/>
          <p:nvPr/>
        </p:nvSpPr>
        <p:spPr>
          <a:xfrm>
            <a:off x="3689650" y="5143500"/>
            <a:ext cx="12318401" cy="4755563"/>
          </a:xfrm>
          <a:custGeom>
            <a:avLst/>
            <a:gdLst/>
            <a:ahLst/>
            <a:cxnLst/>
            <a:rect l="l" t="t" r="r" b="b"/>
            <a:pathLst>
              <a:path w="12318401" h="4755563">
                <a:moveTo>
                  <a:pt x="0" y="0"/>
                </a:moveTo>
                <a:lnTo>
                  <a:pt x="12318400" y="0"/>
                </a:lnTo>
                <a:lnTo>
                  <a:pt x="12318400" y="4755563"/>
                </a:lnTo>
                <a:lnTo>
                  <a:pt x="0" y="4755563"/>
                </a:lnTo>
                <a:lnTo>
                  <a:pt x="0" y="0"/>
                </a:lnTo>
                <a:close/>
              </a:path>
            </a:pathLst>
          </a:custGeom>
          <a:blipFill>
            <a:blip r:embed="rId3"/>
            <a:stretch>
              <a:fillRect l="-927" t="-5815" b="-13208"/>
            </a:stretch>
          </a:blipFill>
        </p:spPr>
      </p:sp>
      <p:sp>
        <p:nvSpPr>
          <p:cNvPr id="5" name="Freeform 3"/>
          <p:cNvSpPr/>
          <p:nvPr/>
        </p:nvSpPr>
        <p:spPr>
          <a:xfrm rot="-5552948">
            <a:off x="16247110" y="7569200"/>
            <a:ext cx="2985770" cy="3193415"/>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5390515" y="62230"/>
            <a:ext cx="8212455" cy="1254125"/>
          </a:xfrm>
          <a:prstGeom prst="rect">
            <a:avLst/>
          </a:prstGeom>
        </p:spPr>
        <p:txBody>
          <a:bodyPr lIns="0" tIns="0" rIns="0" bIns="0" rtlCol="0" anchor="t">
            <a:noAutofit/>
          </a:bodyPr>
          <a:lstStyle/>
          <a:p>
            <a:pPr algn="ctr">
              <a:lnSpc>
                <a:spcPts val="10190"/>
              </a:lnSpc>
              <a:spcBef>
                <a:spcPct val="0"/>
              </a:spcBef>
            </a:pPr>
            <a:r>
              <a:rPr lang="en-US" sz="7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C</a:t>
            </a:r>
            <a:r>
              <a:rPr lang="en-US" sz="7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ONCLUSION</a:t>
            </a:r>
            <a:endParaRPr lang="en-US" sz="72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3" name="Freeform 3"/>
          <p:cNvSpPr/>
          <p:nvPr/>
        </p:nvSpPr>
        <p:spPr>
          <a:xfrm rot="5400000">
            <a:off x="-893445" y="-973455"/>
            <a:ext cx="3905250" cy="4556760"/>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15925165" y="8420100"/>
            <a:ext cx="4415790" cy="3957955"/>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txBody>
          <a:bodyPr/>
          <a:p>
            <a:endParaRPr lang="en-US"/>
          </a:p>
        </p:txBody>
      </p:sp>
      <p:sp>
        <p:nvSpPr>
          <p:cNvPr id="5" name="TextBox 5"/>
          <p:cNvSpPr txBox="1"/>
          <p:nvPr/>
        </p:nvSpPr>
        <p:spPr>
          <a:xfrm>
            <a:off x="762000" y="1245235"/>
            <a:ext cx="16687800" cy="8693150"/>
          </a:xfrm>
          <a:prstGeom prst="rect">
            <a:avLst/>
          </a:prstGeom>
        </p:spPr>
        <p:txBody>
          <a:bodyPr lIns="0" tIns="0" rIns="0" bIns="0" rtlCol="0" anchor="t">
            <a:noAutofit/>
          </a:bodyPr>
          <a:lstStyle/>
          <a:p>
            <a:pPr marL="830580" lvl="1" indent="-415290" algn="just">
              <a:lnSpc>
                <a:spcPts val="5385"/>
              </a:lnSpc>
              <a:spcBef>
                <a:spcPct val="0"/>
              </a:spcBef>
              <a:buFont typeface="Arial" panose="020B0604020202020204"/>
              <a:buChar char="•"/>
            </a:pP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The project Fake Job Post Detection System succ</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essfully identifies whether a job posting is Real or Fake using Machine Learning techniques.</a:t>
            </a:r>
            <a:endPar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830580" lvl="1" indent="-415290" algn="just">
              <a:lnSpc>
                <a:spcPts val="5385"/>
              </a:lnSpc>
              <a:spcBef>
                <a:spcPct val="0"/>
              </a:spcBef>
              <a:buFont typeface="Arial" panose="020B0604020202020204"/>
              <a:buChar char="•"/>
            </a:pP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analyzes both job descr</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iptions an</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d</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 job link</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s, making it more reliable and practi</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c</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al.</a:t>
            </a:r>
            <a:endPar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830580" lvl="1" indent="-415290" algn="just">
              <a:lnSpc>
                <a:spcPts val="5385"/>
              </a:lnSpc>
              <a:spcBef>
                <a:spcPct val="0"/>
              </a:spcBef>
              <a:buFont typeface="Arial" panose="020B0604020202020204"/>
              <a:buChar char="•"/>
            </a:pP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Algorithms like Rand</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o</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m Forest, Decision Tree, and Logistic Regression were implemented, with Random For</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est giving the best</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 accuracy.</a:t>
            </a:r>
            <a:endPar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830580" lvl="1" indent="-415290" algn="just">
              <a:lnSpc>
                <a:spcPts val="5385"/>
              </a:lnSpc>
              <a:spcBef>
                <a:spcPct val="0"/>
              </a:spcBef>
              <a:buFont typeface="Arial" panose="020B0604020202020204"/>
              <a:buChar char="•"/>
            </a:pP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The integration of a Streamlit web ap</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plication provides a simple and user-friendly interface for real-time prediction.</a:t>
            </a:r>
            <a:endPar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830580" lvl="1" indent="-415290" algn="just">
              <a:lnSpc>
                <a:spcPts val="5385"/>
              </a:lnSpc>
              <a:spcBef>
                <a:spcPct val="0"/>
              </a:spcBef>
              <a:buFont typeface="Arial" panose="020B0604020202020204"/>
              <a:buChar char="•"/>
            </a:pP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This system helps in reducing online job fraud and protects users from scams and data theft.</a:t>
            </a:r>
            <a:endPar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830580" lvl="1" indent="-415290" algn="just">
              <a:lnSpc>
                <a:spcPts val="5385"/>
              </a:lnSpc>
              <a:spcBef>
                <a:spcPct val="0"/>
              </a:spcBef>
              <a:buFont typeface="Arial" panose="020B0604020202020204"/>
              <a:buChar char="•"/>
            </a:pP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Ove</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rall, the projec</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t demonstrates how Machine Learning and NLP can be applied to solve </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re</a:t>
            </a:r>
            <a:r>
              <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rPr>
              <a:t>al-world problems effectively.</a:t>
            </a:r>
            <a:endParaRPr lang="en-US" sz="384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ts val="5130"/>
              </a:lnSpc>
              <a:spcBef>
                <a:spcPct val="0"/>
              </a:spcBef>
            </a:p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TextBox 2"/>
          <p:cNvSpPr txBox="1"/>
          <p:nvPr/>
        </p:nvSpPr>
        <p:spPr>
          <a:xfrm>
            <a:off x="5565775" y="-12065"/>
            <a:ext cx="7505065" cy="988695"/>
          </a:xfrm>
          <a:prstGeom prst="rect">
            <a:avLst/>
          </a:prstGeom>
        </p:spPr>
        <p:txBody>
          <a:bodyPr lIns="0" tIns="0" rIns="0" bIns="0" rtlCol="0" anchor="t">
            <a:noAutofit/>
          </a:bodyPr>
          <a:lstStyle/>
          <a:p>
            <a:pPr algn="ctr">
              <a:lnSpc>
                <a:spcPts val="9065"/>
              </a:lnSpc>
              <a:spcBef>
                <a:spcPct val="0"/>
              </a:spcBef>
            </a:pPr>
            <a:r>
              <a:rPr lang="en-US" sz="6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REFERENCES</a:t>
            </a:r>
            <a:endParaRPr lang="en-US" sz="6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3" name="TextBox 3"/>
          <p:cNvSpPr txBox="1"/>
          <p:nvPr/>
        </p:nvSpPr>
        <p:spPr>
          <a:xfrm>
            <a:off x="381635" y="1232535"/>
            <a:ext cx="17419955" cy="8057515"/>
          </a:xfrm>
          <a:prstGeom prst="rect">
            <a:avLst/>
          </a:prstGeom>
        </p:spPr>
        <p:txBody>
          <a:bodyPr lIns="0" tIns="0" rIns="0" bIns="0" rtlCol="0" anchor="t">
            <a:noAutofit/>
          </a:bodyPr>
          <a:lstStyle/>
          <a:p>
            <a:pPr marL="491490" lvl="1" indent="-245745" algn="just">
              <a:lnSpc>
                <a:spcPts val="3190"/>
              </a:lnSpc>
              <a:spcBef>
                <a:spcPct val="0"/>
              </a:spcBef>
              <a:buAutoNum type="arabicPeriod"/>
            </a:pPr>
            <a:r>
              <a:rPr lang="en-US" sz="2500">
                <a:solidFill>
                  <a:srgbClr val="000000"/>
                </a:solidFill>
                <a:latin typeface="Times New Roman" panose="02020603050405020304"/>
                <a:ea typeface="Times New Roman" panose="02020603050405020304"/>
                <a:cs typeface="Times New Roman" panose="02020603050405020304"/>
                <a:sym typeface="Times New Roman" panose="02020603050405020304"/>
              </a:rPr>
              <a:t>F</a:t>
            </a:r>
            <a:r>
              <a:rPr lang="en-US" sz="2500" u="none"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ake Job Post Detection Using Machine Learning, IEEE Conference/Journal Publication, Year. This paper proposes a machine learning-based approach to classify fraudulent job advertisements using supervised learning techniques and text preprocessing methods. Available on: </a:t>
            </a:r>
            <a:r>
              <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hlinkClick r:id="rId1" tooltip="https://ieeexplore.ieee.org"/>
              </a:rPr>
              <a:t>https://ieeexplore.ieee.org/</a:t>
            </a:r>
            <a:endPar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endParaRPr>
          </a:p>
          <a:p>
            <a:pPr marL="491490" lvl="1" indent="-245745" algn="just">
              <a:lnSpc>
                <a:spcPts val="3190"/>
              </a:lnSpc>
              <a:spcBef>
                <a:spcPct val="0"/>
              </a:spcBef>
              <a:buAutoNum type="arabicPeriod"/>
            </a:pPr>
            <a:r>
              <a:rPr lang="en-US" sz="2500" u="none"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R. R. Bhamare et al., “Employment Scam Detection Using Machine Learning Techniques,” IEEE Xplore, 2020–2022. This research addresses employment fraud detection using classification models and structured feature analysis. Available on: </a:t>
            </a:r>
            <a:r>
              <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hlinkClick r:id="rId1" tooltip="https://ieeexplore.ieee.org"/>
              </a:rPr>
              <a:t>https://ieeexplore.ieee.org/</a:t>
            </a:r>
            <a:endPar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endParaRPr>
          </a:p>
          <a:p>
            <a:pPr marL="491490" lvl="1" indent="-245745" algn="just">
              <a:lnSpc>
                <a:spcPts val="3190"/>
              </a:lnSpc>
              <a:spcBef>
                <a:spcPct val="0"/>
              </a:spcBef>
              <a:buAutoNum type="arabicPeriod"/>
            </a:pPr>
            <a:r>
              <a:rPr lang="en-US" sz="2500" u="none"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V. Itnal, I. Pande, S. Nimkar, A. Padwal, A. Pampattiwar, and A. Patil, “Fake/Real Job Posting Detection Using Machine Learning,” International Journal for Research in Applied Science &amp; Engineering Technology (IJRASET), 2025. DOI: </a:t>
            </a:r>
            <a:r>
              <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hlinkClick r:id="rId2" tooltip="https://doi.org/10.22214/ijraset.2025.74635"/>
              </a:rPr>
              <a:t>https://doi.org/10.22214/ijraset.2025.74635</a:t>
            </a:r>
            <a:endPar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endParaRPr>
          </a:p>
          <a:p>
            <a:pPr marL="491490" lvl="1" indent="-245745" algn="just">
              <a:lnSpc>
                <a:spcPts val="3190"/>
              </a:lnSpc>
              <a:spcBef>
                <a:spcPct val="0"/>
              </a:spcBef>
              <a:buAutoNum type="arabicPeriod"/>
            </a:pPr>
            <a:r>
              <a:rPr lang="en-US" sz="2500"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Kaggle Dataset – “Fake Job Postings Dataset.” This dataset contains real and fraudulent job advertisements used for training machine learning models in classification tasks. Available at:</a:t>
            </a:r>
            <a:r>
              <a:rPr lang="en-US" sz="2500" u="sng"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hlinkClick r:id="rId3" tooltip="https://www.kaggle.com/shivamb/real-or-fake-fake-jobposting-prediction"/>
              </a:rPr>
              <a:t>https://www.kaggle.com/shivamb/real-or-fake-fake-jobposting-prediction</a:t>
            </a:r>
            <a:endPar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endParaRPr>
          </a:p>
          <a:p>
            <a:pPr marL="491490" lvl="1" indent="-245745" algn="just">
              <a:lnSpc>
                <a:spcPts val="3190"/>
              </a:lnSpc>
              <a:spcBef>
                <a:spcPct val="0"/>
              </a:spcBef>
              <a:buAutoNum type="arabicPeriod"/>
            </a:pPr>
            <a:r>
              <a:rPr lang="en-US" sz="2500"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P. Khandagale, A. Utekar, A. Dhonde, and S. S. Karve, “Fake Job Detection Using Machine Learning,” IJRASET, 2022. DOI: </a:t>
            </a:r>
            <a:r>
              <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hlinkClick r:id="rId4" tooltip="https://doi.org/10.22214/ijraset.2022.41641"/>
              </a:rPr>
              <a:t>https://doi.org/10.22214/ijraset.2022.41641</a:t>
            </a:r>
            <a:endPar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endParaRPr>
          </a:p>
          <a:p>
            <a:pPr marL="491490" lvl="1" indent="-245745" algn="just">
              <a:lnSpc>
                <a:spcPts val="3190"/>
              </a:lnSpc>
              <a:spcBef>
                <a:spcPct val="0"/>
              </a:spcBef>
              <a:buAutoNum type="arabicPeriod"/>
            </a:pPr>
            <a:r>
              <a:rPr lang="en-US" sz="2500"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K. Sridevi, G. Likitha, P. Chandana, and S. Shamarthi, “Real or Fake Job Posting Detection,” International Research Journal on Advanced Engineering and Management (IRJAEM), 2024. DOI: </a:t>
            </a:r>
            <a:r>
              <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hlinkClick r:id="rId5" tooltip="https://doi.org/10.47392/IRJAEM.2024.0361"/>
              </a:rPr>
              <a:t>https://doi.org/10.47392/IRJAEM.2024.0361</a:t>
            </a:r>
            <a:endPar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endParaRPr>
          </a:p>
          <a:p>
            <a:pPr marL="491490" lvl="1" indent="-245745" algn="just">
              <a:lnSpc>
                <a:spcPts val="3190"/>
              </a:lnSpc>
              <a:spcBef>
                <a:spcPct val="0"/>
              </a:spcBef>
              <a:buAutoNum type="arabicPeriod"/>
            </a:pPr>
            <a:r>
              <a:rPr lang="en-US" sz="2500"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K. G., P. M., R. G. Naik, R. K. R., and S. A. Sharma, “Detection of Fake Job Listings Using Text Classification and SMOTE-Enhanced Training,” International Journal of Advanced Research in Computer and Communication Engineering (IJARCCE), 2025. DOI: </a:t>
            </a:r>
            <a:r>
              <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hlinkClick r:id="rId6" tooltip="https://doi.org/10.17148/IJARCCE.2025.141063"/>
              </a:rPr>
              <a:t>https://doi.org/10.17148/IJARCCE.2025.141063</a:t>
            </a:r>
            <a:endPar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endParaRPr>
          </a:p>
          <a:p>
            <a:pPr marL="491490" lvl="1" indent="-245745" algn="just">
              <a:lnSpc>
                <a:spcPts val="3190"/>
              </a:lnSpc>
              <a:spcBef>
                <a:spcPct val="0"/>
              </a:spcBef>
              <a:buAutoNum type="arabicPeriod"/>
            </a:pPr>
            <a:r>
              <a:rPr lang="en-US" sz="2500" strike="noStrike">
                <a:solidFill>
                  <a:srgbClr val="000000"/>
                </a:solidFill>
                <a:latin typeface="Times New Roman" panose="02020603050405020304"/>
                <a:ea typeface="Times New Roman" panose="02020603050405020304"/>
                <a:cs typeface="Times New Roman" panose="02020603050405020304"/>
                <a:sym typeface="Times New Roman" panose="02020603050405020304"/>
              </a:rPr>
              <a:t>J. Fating, J. Tumdam, A. Raut, A. Ladke, and A. Shewale, “Fake Job Listing Detection Using Machine Learning Approach,” International Journal of Engineering Trends and Technology (IJETT), 2023. Available at: </a:t>
            </a:r>
            <a:r>
              <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hlinkClick r:id="rId7" tooltip="https://ijettjournal.org"/>
              </a:rPr>
              <a:t>https://ijettjournal.org/</a:t>
            </a:r>
            <a:endParaRPr lang="en-US" sz="2500" u="sng" strike="noStrike">
              <a:solidFill>
                <a:srgbClr val="5E17EB"/>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a:lnSpc>
                <a:spcPts val="3190"/>
              </a:lnSpc>
              <a:spcBef>
                <a:spcPct val="0"/>
              </a:spcBef>
            </a:pPr>
            <a:endParaRPr sz="25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30381"/>
            <a:ext cx="4840370" cy="6758253"/>
          </a:xfrm>
          <a:custGeom>
            <a:avLst/>
            <a:gdLst/>
            <a:ahLst/>
            <a:cxnLst/>
            <a:rect l="l" t="t" r="r" b="b"/>
            <a:pathLst>
              <a:path w="4840370" h="6758253">
                <a:moveTo>
                  <a:pt x="0" y="0"/>
                </a:moveTo>
                <a:lnTo>
                  <a:pt x="4840370" y="0"/>
                </a:lnTo>
                <a:lnTo>
                  <a:pt x="4840370"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15008428" y="5879173"/>
            <a:ext cx="4840370" cy="6758253"/>
          </a:xfrm>
          <a:custGeom>
            <a:avLst/>
            <a:gdLst/>
            <a:ahLst/>
            <a:cxnLst/>
            <a:rect l="l" t="t" r="r" b="b"/>
            <a:pathLst>
              <a:path w="4840370" h="6758253">
                <a:moveTo>
                  <a:pt x="0" y="0"/>
                </a:moveTo>
                <a:lnTo>
                  <a:pt x="4840371" y="0"/>
                </a:lnTo>
                <a:lnTo>
                  <a:pt x="4840371" y="6758254"/>
                </a:lnTo>
                <a:lnTo>
                  <a:pt x="0" y="675825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4082837" y="3463311"/>
            <a:ext cx="10496401" cy="2146510"/>
          </a:xfrm>
          <a:prstGeom prst="rect">
            <a:avLst/>
          </a:prstGeom>
        </p:spPr>
        <p:txBody>
          <a:bodyPr lIns="0" tIns="0" rIns="0" bIns="0" rtlCol="0" anchor="t">
            <a:spAutoFit/>
          </a:bodyPr>
          <a:lstStyle/>
          <a:p>
            <a:pPr algn="ctr">
              <a:lnSpc>
                <a:spcPts val="17140"/>
              </a:lnSpc>
              <a:spcBef>
                <a:spcPct val="0"/>
              </a:spcBef>
            </a:pPr>
            <a:r>
              <a:rPr lang="en-US" sz="12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Any Questions?</a:t>
            </a:r>
            <a:endParaRPr lang="en-US" sz="1224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668325" y="3956119"/>
            <a:ext cx="12951349" cy="2272535"/>
          </a:xfrm>
          <a:prstGeom prst="rect">
            <a:avLst/>
          </a:prstGeom>
        </p:spPr>
        <p:txBody>
          <a:bodyPr lIns="0" tIns="0" rIns="0" bIns="0" rtlCol="0" anchor="t">
            <a:spAutoFit/>
          </a:bodyPr>
          <a:lstStyle/>
          <a:p>
            <a:pPr algn="ctr">
              <a:lnSpc>
                <a:spcPts val="18065"/>
              </a:lnSpc>
            </a:pPr>
            <a:r>
              <a:rPr lang="en-US" sz="1290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rPr>
              <a:t>THANK YOU</a:t>
            </a:r>
            <a:endParaRPr lang="en-US" sz="12905" b="1">
              <a:solidFill>
                <a:srgbClr val="3F3D3E"/>
              </a:solidFill>
              <a:latin typeface="Times New Roman Bold" panose="02020803070505020304"/>
              <a:ea typeface="Times New Roman Bold" panose="02020803070505020304"/>
              <a:cs typeface="Times New Roman Bold" panose="02020803070505020304"/>
              <a:sym typeface="Times New Roman Bold" panose="02020803070505020304"/>
            </a:endParaRP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27388</Words>
  <Application>WPS Presentation</Application>
  <PresentationFormat>On-screen Show (4:3)</PresentationFormat>
  <Paragraphs>653</Paragraphs>
  <Slides>30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Arial</vt:lpstr>
      <vt:lpstr>SimSun</vt:lpstr>
      <vt:lpstr>Wingdings</vt:lpstr>
      <vt:lpstr>Times New Roman</vt:lpstr>
      <vt:lpstr>Times New Roman Bold</vt:lpstr>
      <vt:lpstr>Times New Roman</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posting Detection Using Machine Learning</dc:title>
  <dc:creator/>
  <cp:lastModifiedBy>22501A1260 KUNAPAREDDY ASWANI</cp:lastModifiedBy>
  <cp:revision>5</cp:revision>
  <dcterms:created xsi:type="dcterms:W3CDTF">2006-08-16T00:00:00Z</dcterms:created>
  <dcterms:modified xsi:type="dcterms:W3CDTF">2026-04-20T08:22:10Z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804F6E0E5A5A4BEEA4AB655E97422652_13</vt:lpwstr>
  </property>
</Properties>
</file>